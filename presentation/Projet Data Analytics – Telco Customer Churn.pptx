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8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Subtitle 2"/>
          <p:cNvSpPr>
            <a:spLocks noGrp="1"/>
          </p:cNvSpPr>
          <p:nvPr>
            <p:ph type="subTitle" idx="1" hasCustomPrompt="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fld id="{67F45AC6-C491-4585-A584-9CE2AF7D5500}" type="datetime1">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hasCustomPrompt="1"/>
          </p:nvPr>
        </p:nvSpPr>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fr-FR"/>
              <a:t>Modifiez le style du titre</a:t>
            </a:r>
            <a:endParaRPr lang="en-US" dirty="0"/>
          </a:p>
        </p:txBody>
      </p:sp>
      <p:sp>
        <p:nvSpPr>
          <p:cNvPr id="3" name="Text Placeholder 2"/>
          <p:cNvSpPr>
            <a:spLocks noGrp="1"/>
          </p:cNvSpPr>
          <p:nvPr>
            <p:ph type="body" idx="1" hasCustomPrompt="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endParaRPr lang="fr-FR"/>
          </a:p>
        </p:txBody>
      </p:sp>
      <p:sp>
        <p:nvSpPr>
          <p:cNvPr id="4" name="Date Placeholder 3"/>
          <p:cNvSpPr>
            <a:spLocks noGrp="1"/>
          </p:cNvSpPr>
          <p:nvPr>
            <p:ph type="dt" sz="half" idx="10"/>
          </p:nvPr>
        </p:nvSpPr>
        <p:spPr/>
        <p:txBody>
          <a:bodyPr/>
          <a:lstStyle/>
          <a:p>
            <a:fld id="{67F45AC6-C491-4585-A584-9CE2AF7D5500}" type="datetime1">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fr-FR"/>
              <a:t>Modifiez le style du titre</a:t>
            </a:r>
            <a:endParaRPr lang="en-US" dirty="0"/>
          </a:p>
        </p:txBody>
      </p:sp>
      <p:sp>
        <p:nvSpPr>
          <p:cNvPr id="3" name="Content Placeholder 2"/>
          <p:cNvSpPr>
            <a:spLocks noGrp="1"/>
          </p:cNvSpPr>
          <p:nvPr>
            <p:ph sz="half" idx="1" hasCustomPrompt="1"/>
          </p:nvPr>
        </p:nvSpPr>
        <p:spPr>
          <a:xfrm>
            <a:off x="1024127" y="2286000"/>
            <a:ext cx="4754880" cy="4023360"/>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Content Placeholder 3"/>
          <p:cNvSpPr>
            <a:spLocks noGrp="1"/>
          </p:cNvSpPr>
          <p:nvPr>
            <p:ph sz="half" idx="2" hasCustomPrompt="1"/>
          </p:nvPr>
        </p:nvSpPr>
        <p:spPr>
          <a:xfrm>
            <a:off x="5989320" y="2286000"/>
            <a:ext cx="4754880" cy="4023360"/>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5" name="Date Placeholder 4"/>
          <p:cNvSpPr>
            <a:spLocks noGrp="1"/>
          </p:cNvSpPr>
          <p:nvPr>
            <p:ph type="dt" sz="half" idx="10"/>
          </p:nvPr>
        </p:nvSpPr>
        <p:spPr/>
        <p:txBody>
          <a:bodyPr/>
          <a:lstStyle/>
          <a:p>
            <a:fld id="{67F45AC6-C491-4585-A584-9CE2AF7D5500}" type="datetime1">
              <a:rPr lang="en-US" smtClean="0"/>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hasCustomPrompt="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endParaRPr lang="fr-FR"/>
          </a:p>
        </p:txBody>
      </p:sp>
      <p:sp>
        <p:nvSpPr>
          <p:cNvPr id="4" name="Content Placeholder 3"/>
          <p:cNvSpPr>
            <a:spLocks noGrp="1"/>
          </p:cNvSpPr>
          <p:nvPr>
            <p:ph sz="half" idx="2" hasCustomPrompt="1"/>
          </p:nvPr>
        </p:nvSpPr>
        <p:spPr>
          <a:xfrm>
            <a:off x="1024128" y="2967788"/>
            <a:ext cx="4754880" cy="3341572"/>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5" name="Text Placeholder 4"/>
          <p:cNvSpPr>
            <a:spLocks noGrp="1"/>
          </p:cNvSpPr>
          <p:nvPr>
            <p:ph type="body" sz="quarter" idx="3" hasCustomPrompt="1"/>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FR"/>
              <a:t>Cliquez pour modifier les styles du texte du masque</a:t>
            </a:r>
            <a:endParaRPr lang="fr-FR"/>
          </a:p>
        </p:txBody>
      </p:sp>
      <p:sp>
        <p:nvSpPr>
          <p:cNvPr id="6" name="Content Placeholder 5"/>
          <p:cNvSpPr>
            <a:spLocks noGrp="1"/>
          </p:cNvSpPr>
          <p:nvPr>
            <p:ph sz="quarter" idx="4" hasCustomPrompt="1"/>
          </p:nvPr>
        </p:nvSpPr>
        <p:spPr>
          <a:xfrm>
            <a:off x="5990888" y="2967788"/>
            <a:ext cx="4754880" cy="3341572"/>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7" name="Date Placeholder 6"/>
          <p:cNvSpPr>
            <a:spLocks noGrp="1"/>
          </p:cNvSpPr>
          <p:nvPr>
            <p:ph type="dt" sz="half" idx="10"/>
          </p:nvPr>
        </p:nvSpPr>
        <p:spPr/>
        <p:txBody>
          <a:bodyPr/>
          <a:lstStyle/>
          <a:p>
            <a:fld id="{67F45AC6-C491-4585-A584-9CE2AF7D5500}" type="datetime1">
              <a:rPr lang="en-US" smtClean="0"/>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7F45AC6-C491-4585-A584-9CE2AF7D5500}" type="datetime1">
              <a:rPr lang="en-US" smtClean="0"/>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45AC6-C491-4585-A584-9CE2AF7D5500}" type="datetime1">
              <a:rPr lang="en-US" smtClean="0"/>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fr-FR"/>
              <a:t>Modifiez le style du titre</a:t>
            </a:r>
            <a:endParaRPr lang="en-US" dirty="0"/>
          </a:p>
        </p:txBody>
      </p:sp>
      <p:sp>
        <p:nvSpPr>
          <p:cNvPr id="3" name="Content Placeholder 2"/>
          <p:cNvSpPr>
            <a:spLocks noGrp="1"/>
          </p:cNvSpPr>
          <p:nvPr>
            <p:ph idx="1" hasCustomPrompt="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Text Placeholder 3"/>
          <p:cNvSpPr>
            <a:spLocks noGrp="1"/>
          </p:cNvSpPr>
          <p:nvPr>
            <p:ph type="body" sz="half" idx="2" hasCustomPrompt="1"/>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endParaRPr lang="fr-FR"/>
          </a:p>
        </p:txBody>
      </p:sp>
      <p:sp>
        <p:nvSpPr>
          <p:cNvPr id="5" name="Date Placeholder 4"/>
          <p:cNvSpPr>
            <a:spLocks noGrp="1"/>
          </p:cNvSpPr>
          <p:nvPr>
            <p:ph type="dt" sz="half" idx="10"/>
          </p:nvPr>
        </p:nvSpPr>
        <p:spPr/>
        <p:txBody>
          <a:bodyPr/>
          <a:lstStyle/>
          <a:p>
            <a:fld id="{67F45AC6-C491-4585-A584-9CE2AF7D5500}" type="datetime1">
              <a:rPr lang="en-US" smtClean="0"/>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hasCustomPrompt="1"/>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endParaRPr lang="fr-FR"/>
          </a:p>
        </p:txBody>
      </p:sp>
      <p:sp>
        <p:nvSpPr>
          <p:cNvPr id="5" name="Date Placeholder 4"/>
          <p:cNvSpPr>
            <a:spLocks noGrp="1"/>
          </p:cNvSpPr>
          <p:nvPr>
            <p:ph type="dt" sz="half" idx="10"/>
          </p:nvPr>
        </p:nvSpPr>
        <p:spPr/>
        <p:txBody>
          <a:bodyPr/>
          <a:lstStyle/>
          <a:p>
            <a:fld id="{67F45AC6-C491-4585-A584-9CE2AF7D5500}" type="datetime1">
              <a:rPr lang="en-US" smtClean="0"/>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hasCustomPrompt="1"/>
          </p:nvPr>
        </p:nvSpPr>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hasCustomPrompt="1"/>
          </p:nvPr>
        </p:nvSpPr>
        <p:spPr>
          <a:xfrm>
            <a:off x="990601" y="762000"/>
            <a:ext cx="7581900" cy="5410200"/>
          </a:xfrm>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7F45AC6-C491-4585-A584-9CE2AF7D5500}" type="datetime1">
              <a:rPr lang="en-US" smtClean="0"/>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C057153-B650-4DEB-B370-79DDCFDCE934}" type="slidenum">
              <a:rPr lang="en-US" smtClean="0"/>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2"/>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sv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1"/>
          <a:srcRect t="6266" b="3373"/>
          <a:stretch>
            <a:fillRect/>
          </a:stretch>
        </p:blipFill>
        <p:spPr>
          <a:xfrm>
            <a:off x="20" y="10"/>
            <a:ext cx="12191980" cy="6857990"/>
          </a:xfrm>
          <a:prstGeom prst="rect">
            <a:avLst/>
          </a:prstGeom>
        </p:spPr>
      </p:pic>
      <p:sp>
        <p:nvSpPr>
          <p:cNvPr id="2" name="Titre 1"/>
          <p:cNvSpPr>
            <a:spLocks noGrp="1"/>
          </p:cNvSpPr>
          <p:nvPr>
            <p:ph type="ctrTitle"/>
          </p:nvPr>
        </p:nvSpPr>
        <p:spPr>
          <a:xfrm>
            <a:off x="7473219" y="898373"/>
            <a:ext cx="4470544" cy="3474720"/>
          </a:xfrm>
        </p:spPr>
        <p:txBody>
          <a:bodyPr anchor="b">
            <a:normAutofit/>
          </a:bodyPr>
          <a:lstStyle/>
          <a:p>
            <a:pPr algn="l"/>
            <a:r>
              <a:rPr lang="fr-FR" sz="4100"/>
              <a:t>Projet Data Analytics – Telco Customer Churn </a:t>
            </a:r>
            <a:br>
              <a:rPr lang="fr-FR" sz="4100"/>
            </a:br>
            <a:endParaRPr lang="fr-FR" sz="4100"/>
          </a:p>
        </p:txBody>
      </p:sp>
      <p:sp>
        <p:nvSpPr>
          <p:cNvPr id="3" name="Sous-titre 2"/>
          <p:cNvSpPr>
            <a:spLocks noGrp="1"/>
          </p:cNvSpPr>
          <p:nvPr>
            <p:ph type="subTitle" idx="1"/>
          </p:nvPr>
        </p:nvSpPr>
        <p:spPr>
          <a:xfrm>
            <a:off x="7482646" y="4495013"/>
            <a:ext cx="4116410" cy="1386840"/>
          </a:xfrm>
        </p:spPr>
        <p:txBody>
          <a:bodyPr anchor="t">
            <a:normAutofit/>
          </a:bodyPr>
          <a:lstStyle/>
          <a:p>
            <a:pPr algn="l"/>
            <a:r>
              <a:rPr lang="fr-FR" sz="2200" dirty="0"/>
              <a:t>Présenté par : Hamed </a:t>
            </a:r>
            <a:r>
              <a:rPr lang="fr-FR" sz="2200" dirty="0" err="1"/>
              <a:t>Tlili</a:t>
            </a:r>
            <a:endParaRPr lang="fr-FR" sz="2200" dirty="0"/>
          </a:p>
          <a:p>
            <a:pPr algn="l"/>
            <a:endParaRPr lang="fr-FR" sz="2200" dirty="0"/>
          </a:p>
        </p:txBody>
      </p:sp>
      <p:sp>
        <p:nvSpPr>
          <p:cNvPr id="12" name="ZoneTexte 11"/>
          <p:cNvSpPr txBox="1"/>
          <p:nvPr/>
        </p:nvSpPr>
        <p:spPr>
          <a:xfrm>
            <a:off x="2997610" y="2956740"/>
            <a:ext cx="6201696" cy="3139321"/>
          </a:xfrm>
          <a:prstGeom prst="rect">
            <a:avLst/>
          </a:prstGeom>
          <a:noFill/>
        </p:spPr>
        <p:txBody>
          <a:bodyPr wrap="square">
            <a:spAutoFit/>
          </a:bodyPr>
          <a:lstStyle/>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           </a:t>
            </a:r>
            <a:endParaRPr lang="fr-FR" dirty="0"/>
          </a:p>
          <a:p>
            <a:endParaRPr lang="fr-FR" dirty="0"/>
          </a:p>
          <a:p>
            <a:r>
              <a:rPr lang="fr-FR" dirty="0"/>
              <a:t>            Analyse Complète du </a:t>
            </a:r>
            <a:r>
              <a:rPr lang="fr-FR" dirty="0" err="1"/>
              <a:t>Churn</a:t>
            </a:r>
            <a:r>
              <a:rPr lang="fr-FR" dirty="0"/>
              <a:t> Client</a:t>
            </a:r>
            <a:endParaRPr lang="fr-FR" dirty="0"/>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8018272" cy="1499616"/>
          </a:xfrm>
        </p:spPr>
        <p:txBody>
          <a:bodyPr>
            <a:normAutofit/>
          </a:bodyPr>
          <a:lstStyle/>
          <a:p>
            <a:r>
              <a:rPr lang="fr-FR" sz="3500" b="1"/>
              <a:t>Introduction</a:t>
            </a:r>
            <a:br>
              <a:rPr lang="fr-FR" sz="3500"/>
            </a:br>
            <a:endParaRPr lang="fr-FR" sz="3500"/>
          </a:p>
        </p:txBody>
      </p:sp>
      <p:sp>
        <p:nvSpPr>
          <p:cNvPr id="3" name="Espace réservé du contenu 2"/>
          <p:cNvSpPr>
            <a:spLocks noGrp="1"/>
          </p:cNvSpPr>
          <p:nvPr>
            <p:ph idx="1"/>
          </p:nvPr>
        </p:nvSpPr>
        <p:spPr>
          <a:xfrm>
            <a:off x="1024128" y="2286000"/>
            <a:ext cx="8018271" cy="4023360"/>
          </a:xfrm>
        </p:spPr>
        <p:txBody>
          <a:bodyPr>
            <a:normAutofit/>
          </a:bodyPr>
          <a:lstStyle/>
          <a:p>
            <a:r>
              <a:rPr lang="fr-FR" b="1"/>
              <a:t>Le churn représente les clients qui quittent un service. Ce phénomène constitue un enjeu majeur pour les entreprises, car il impacte directement leurs revenus et leur croissance. Dans ce projet, nous analysons les causes du churn afin de proposer des solutions efficaces.</a:t>
            </a:r>
            <a:endParaRPr lang="fr-F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6066818" cy="1499616"/>
          </a:xfrm>
        </p:spPr>
        <p:txBody>
          <a:bodyPr>
            <a:normAutofit/>
          </a:bodyPr>
          <a:lstStyle/>
          <a:p>
            <a:r>
              <a:rPr lang="fr-FR" dirty="0"/>
              <a:t>Objectif du Projet</a:t>
            </a:r>
            <a:endParaRPr lang="fr-FR" dirty="0"/>
          </a:p>
        </p:txBody>
      </p:sp>
      <p:cxnSp>
        <p:nvCxnSpPr>
          <p:cNvPr id="9" name="Straight Connector 8"/>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5BA3F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6066818" cy="4023360"/>
          </a:xfrm>
        </p:spPr>
        <p:txBody>
          <a:bodyPr>
            <a:normAutofit/>
          </a:bodyPr>
          <a:lstStyle/>
          <a:p>
            <a:r>
              <a:rPr lang="fr-FR" b="1" dirty="0"/>
              <a:t>L’objectif principal est d’analyser les données clients pour identifier les facteurs qui influencent le </a:t>
            </a:r>
            <a:r>
              <a:rPr lang="fr-FR" b="1" dirty="0" err="1"/>
              <a:t>churn</a:t>
            </a:r>
            <a:r>
              <a:rPr lang="fr-FR" b="1" dirty="0"/>
              <a:t>. Cette analyse permet à l’entreprise de prendre des décisions stratégiques basées sur les données.</a:t>
            </a:r>
            <a:endParaRPr lang="fr-FR" b="1" dirty="0"/>
          </a:p>
        </p:txBody>
      </p:sp>
      <p:pic>
        <p:nvPicPr>
          <p:cNvPr id="6" name="Picture 4" descr="Loupe montrant des performances en baisse"/>
          <p:cNvPicPr>
            <a:picLocks noChangeAspect="1"/>
          </p:cNvPicPr>
          <p:nvPr/>
        </p:nvPicPr>
        <p:blipFill>
          <a:blip r:embed="rId1"/>
          <a:srcRect l="12138" r="42702" b="-1"/>
          <a:stretch>
            <a:fillRect/>
          </a:stretch>
        </p:blipFill>
        <p:spPr>
          <a:xfrm>
            <a:off x="7552266" y="10"/>
            <a:ext cx="4639733" cy="6857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hiffres du marché boursier"/>
          <p:cNvPicPr>
            <a:picLocks noChangeAspect="1"/>
          </p:cNvPicPr>
          <p:nvPr/>
        </p:nvPicPr>
        <p:blipFill>
          <a:blip r:embed="rId1">
            <a:alphaModFix amt="40000"/>
          </a:blip>
          <a:srcRect t="6972" b="8758"/>
          <a:stretch>
            <a:fillRect/>
          </a:stretch>
        </p:blipFill>
        <p:spPr>
          <a:xfrm>
            <a:off x="20" y="10"/>
            <a:ext cx="12191980" cy="6857990"/>
          </a:xfrm>
          <a:prstGeom prst="rect">
            <a:avLst/>
          </a:prstGeom>
        </p:spPr>
      </p:pic>
      <p:sp>
        <p:nvSpPr>
          <p:cNvPr id="2" name="Titre 1"/>
          <p:cNvSpPr>
            <a:spLocks noGrp="1"/>
          </p:cNvSpPr>
          <p:nvPr>
            <p:ph type="title"/>
          </p:nvPr>
        </p:nvSpPr>
        <p:spPr>
          <a:xfrm>
            <a:off x="1024128" y="585216"/>
            <a:ext cx="9720072" cy="1499616"/>
          </a:xfrm>
        </p:spPr>
        <p:txBody>
          <a:bodyPr>
            <a:normAutofit/>
          </a:bodyPr>
          <a:lstStyle/>
          <a:p>
            <a:r>
              <a:rPr lang="fr-FR">
                <a:solidFill>
                  <a:srgbClr val="FFFFFF"/>
                </a:solidFill>
              </a:rPr>
              <a:t>Description du Dataset</a:t>
            </a:r>
            <a:endParaRPr lang="fr-FR">
              <a:solidFill>
                <a:srgbClr val="FFFFFF"/>
              </a:solidFill>
            </a:endParaRPr>
          </a:p>
        </p:txBody>
      </p:sp>
      <p:cxnSp>
        <p:nvCxnSpPr>
          <p:cNvPr id="11" name="Straight Connector 10"/>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E8E97C"/>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9720073" cy="4023360"/>
          </a:xfrm>
        </p:spPr>
        <p:txBody>
          <a:bodyPr>
            <a:normAutofit/>
          </a:bodyPr>
          <a:lstStyle/>
          <a:p>
            <a:r>
              <a:rPr lang="fr-FR" b="1" dirty="0"/>
              <a:t>Le </a:t>
            </a:r>
            <a:r>
              <a:rPr lang="fr-FR" b="1" dirty="0" err="1"/>
              <a:t>dataset</a:t>
            </a:r>
            <a:r>
              <a:rPr lang="fr-FR" b="1" dirty="0"/>
              <a:t> utilisé est “</a:t>
            </a:r>
            <a:r>
              <a:rPr lang="fr-FR" b="1" dirty="0" err="1"/>
              <a:t>Telco</a:t>
            </a:r>
            <a:r>
              <a:rPr lang="fr-FR" b="1" dirty="0"/>
              <a:t> Customer </a:t>
            </a:r>
            <a:r>
              <a:rPr lang="fr-FR" b="1" dirty="0" err="1"/>
              <a:t>Churn</a:t>
            </a:r>
            <a:r>
              <a:rPr lang="fr-FR" b="1" dirty="0"/>
              <a:t>”. Il contient plus de 7000 clients avec des informations comme les charges mensuelles, la durée d’abonnement et le type de contrat. Ces données permettent d’étudier le comportement des clients.</a:t>
            </a:r>
            <a:endParaRPr lang="fr-FR" b="1" dirty="0"/>
          </a:p>
        </p:txBody>
      </p:sp>
      <p:pic>
        <p:nvPicPr>
          <p:cNvPr id="6" name="Image 5"/>
          <p:cNvPicPr>
            <a:picLocks noChangeAspect="1"/>
          </p:cNvPicPr>
          <p:nvPr/>
        </p:nvPicPr>
        <p:blipFill>
          <a:blip r:embed="rId2"/>
          <a:stretch>
            <a:fillRect/>
          </a:stretch>
        </p:blipFill>
        <p:spPr>
          <a:xfrm>
            <a:off x="1708879" y="3582649"/>
            <a:ext cx="9293901" cy="32736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a:xfrm>
            <a:off x="1024128" y="585216"/>
            <a:ext cx="9720073" cy="5724144"/>
          </a:xfrm>
        </p:spPr>
        <p:txBody>
          <a:bodyPr/>
          <a:lstStyle/>
          <a:p>
            <a:r>
              <a:rPr lang="fr-FR" dirty="0"/>
              <a:t>Ps: le </a:t>
            </a:r>
            <a:r>
              <a:rPr lang="fr-FR" dirty="0" err="1"/>
              <a:t>dataset</a:t>
            </a:r>
            <a:r>
              <a:rPr lang="fr-FR" dirty="0"/>
              <a:t> est </a:t>
            </a:r>
            <a:r>
              <a:rPr lang="fr-FR" dirty="0" err="1"/>
              <a:t>telechargee</a:t>
            </a:r>
            <a:r>
              <a:rPr lang="fr-FR" dirty="0"/>
              <a:t> </a:t>
            </a:r>
            <a:r>
              <a:rPr lang="fr-FR" dirty="0" err="1"/>
              <a:t>from</a:t>
            </a:r>
            <a:r>
              <a:rPr lang="fr-FR" dirty="0"/>
              <a:t>  </a:t>
            </a:r>
            <a:r>
              <a:rPr lang="fr-FR" dirty="0" err="1"/>
              <a:t>kaggle</a:t>
            </a:r>
            <a:endParaRPr lang="fr-FR" dirty="0"/>
          </a:p>
          <a:p>
            <a:r>
              <a:rPr lang="fr-FR" dirty="0"/>
              <a:t>le </a:t>
            </a:r>
            <a:endParaRPr lang="fr-FR" dirty="0"/>
          </a:p>
        </p:txBody>
      </p:sp>
      <p:pic>
        <p:nvPicPr>
          <p:cNvPr id="7" name="Imag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569720"/>
            <a:ext cx="12192000" cy="52363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0" y="0"/>
            <a:ext cx="6095998" cy="6858000"/>
          </a:xfrm>
          <a:prstGeom prst="rect">
            <a:avLst/>
          </a:prstGeom>
          <a:solidFill>
            <a:srgbClr val="413A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title"/>
          </p:nvPr>
        </p:nvSpPr>
        <p:spPr>
          <a:xfrm>
            <a:off x="1024128" y="459317"/>
            <a:ext cx="4389120" cy="1749552"/>
          </a:xfrm>
        </p:spPr>
        <p:txBody>
          <a:bodyPr>
            <a:normAutofit/>
          </a:bodyPr>
          <a:lstStyle/>
          <a:p>
            <a:r>
              <a:rPr lang="fr-FR" sz="4400"/>
              <a:t>Outils Utilisés</a:t>
            </a:r>
            <a:endParaRPr lang="fr-FR" sz="4400"/>
          </a:p>
        </p:txBody>
      </p:sp>
      <p:cxnSp>
        <p:nvCxnSpPr>
          <p:cNvPr id="12" name="Straight Connector 11"/>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5B93D8"/>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9" y="2286000"/>
            <a:ext cx="4389120" cy="3931920"/>
          </a:xfrm>
        </p:spPr>
        <p:txBody>
          <a:bodyPr>
            <a:normAutofit/>
          </a:bodyPr>
          <a:lstStyle/>
          <a:p>
            <a:r>
              <a:rPr lang="fr-FR" sz="1800" dirty="0"/>
              <a:t>Pour réaliser ce projet, nous avons utilisé SQL Server pour gérer la base de données, SSMS pour exécuter les requêtes, Visual Studio Code pour le développement et GitHub pour le versioning du projet. </a:t>
            </a:r>
            <a:endParaRPr lang="fr-FR" sz="1800" dirty="0"/>
          </a:p>
          <a:p>
            <a:r>
              <a:rPr lang="fr-FR" sz="1800" dirty="0"/>
              <a:t>1 SQL: il faut </a:t>
            </a:r>
            <a:r>
              <a:rPr lang="fr-FR" sz="1800" dirty="0" err="1"/>
              <a:t>conncter</a:t>
            </a:r>
            <a:r>
              <a:rPr lang="fr-FR" sz="1800" dirty="0"/>
              <a:t> sur un </a:t>
            </a:r>
            <a:r>
              <a:rPr lang="fr-FR" sz="1800" dirty="0" err="1"/>
              <a:t>sql</a:t>
            </a:r>
            <a:r>
              <a:rPr lang="fr-FR" sz="1800" dirty="0"/>
              <a:t> server et créer une base de donner et ouvrir le csv </a:t>
            </a:r>
            <a:endParaRPr lang="fr-FR" sz="1800" dirty="0"/>
          </a:p>
          <a:p>
            <a:r>
              <a:rPr lang="fr-FR" sz="1800" dirty="0"/>
              <a:t>2 VSC :</a:t>
            </a:r>
            <a:endParaRPr lang="fr-FR" sz="1800" dirty="0"/>
          </a:p>
          <a:p>
            <a:endParaRPr lang="fr-FR" sz="1800" dirty="0"/>
          </a:p>
        </p:txBody>
      </p:sp>
      <p:pic>
        <p:nvPicPr>
          <p:cNvPr id="5" name="Image 4"/>
          <p:cNvPicPr>
            <a:picLocks noChangeAspect="1"/>
          </p:cNvPicPr>
          <p:nvPr/>
        </p:nvPicPr>
        <p:blipFill>
          <a:blip r:embed="rId1">
            <a:extLst>
              <a:ext uri="{28A0092B-C50C-407E-A947-70E740481C1C}">
                <a14:useLocalDpi xmlns:a14="http://schemas.microsoft.com/office/drawing/2010/main" val="0"/>
              </a:ext>
            </a:extLst>
          </a:blip>
          <a:srcRect t="12970" b="20474"/>
          <a:stretch>
            <a:fillRect/>
          </a:stretch>
        </p:blipFill>
        <p:spPr>
          <a:xfrm>
            <a:off x="6095997" y="1"/>
            <a:ext cx="6074935" cy="3555332"/>
          </a:xfrm>
          <a:prstGeom prst="rect">
            <a:avLst/>
          </a:prstGeom>
        </p:spPr>
      </p:pic>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7064" y="3555333"/>
            <a:ext cx="6074936" cy="3169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4732244" cy="1499616"/>
          </a:xfrm>
        </p:spPr>
        <p:txBody>
          <a:bodyPr>
            <a:normAutofit/>
          </a:bodyPr>
          <a:lstStyle/>
          <a:p>
            <a:r>
              <a:rPr lang="fr-FR" sz="4800"/>
              <a:t>GUITHUB :</a:t>
            </a:r>
            <a:endParaRPr lang="fr-FR" sz="4800"/>
          </a:p>
        </p:txBody>
      </p:sp>
      <p:cxnSp>
        <p:nvCxnSpPr>
          <p:cNvPr id="40" name="Straight Connector 39"/>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F5A720"/>
            </a:solidFill>
          </a:ln>
        </p:spPr>
        <p:style>
          <a:lnRef idx="1">
            <a:schemeClr val="accent1"/>
          </a:lnRef>
          <a:fillRef idx="0">
            <a:schemeClr val="accent1"/>
          </a:fillRef>
          <a:effectRef idx="0">
            <a:schemeClr val="accent1"/>
          </a:effectRef>
          <a:fontRef idx="minor">
            <a:schemeClr val="tx1"/>
          </a:fontRef>
        </p:style>
      </p:cxnSp>
      <p:sp>
        <p:nvSpPr>
          <p:cNvPr id="28" name="Content Placeholder 27"/>
          <p:cNvSpPr>
            <a:spLocks noGrp="1"/>
          </p:cNvSpPr>
          <p:nvPr>
            <p:ph idx="1"/>
          </p:nvPr>
        </p:nvSpPr>
        <p:spPr>
          <a:xfrm>
            <a:off x="1024129" y="2286000"/>
            <a:ext cx="4656236" cy="4023360"/>
          </a:xfrm>
        </p:spPr>
        <p:txBody>
          <a:bodyPr>
            <a:normAutofit/>
          </a:bodyPr>
          <a:lstStyle/>
          <a:p>
            <a:r>
              <a:rPr lang="en-US" sz="2000"/>
              <a:t>Quelque exemple doperation ,</a:t>
            </a:r>
            <a:endParaRPr lang="en-US" sz="2000"/>
          </a:p>
        </p:txBody>
      </p:sp>
      <p:sp>
        <p:nvSpPr>
          <p:cNvPr id="42" name="Rectangle 41"/>
          <p:cNvSpPr>
            <a:spLocks noGrp="1" noRot="1" noChangeAspect="1" noMove="1" noResize="1" noEditPoints="1" noAdjustHandles="1" noChangeArrowheads="1" noChangeShapeType="1" noTextEdit="1"/>
          </p:cNvSpPr>
          <p:nvPr/>
        </p:nvSpPr>
        <p:spPr>
          <a:xfrm>
            <a:off x="6083275" y="0"/>
            <a:ext cx="6108725" cy="6858000"/>
          </a:xfrm>
          <a:prstGeom prst="rect">
            <a:avLst/>
          </a:prstGeom>
          <a:solidFill>
            <a:srgbClr val="375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a:spLocks noGrp="1" noRot="1" noChangeAspect="1" noMove="1" noResize="1" noEditPoints="1" noAdjustHandles="1" noChangeArrowheads="1" noChangeShapeType="1" noTextEdit="1"/>
          </p:cNvSpPr>
          <p:nvPr/>
        </p:nvSpPr>
        <p:spPr>
          <a:xfrm>
            <a:off x="6405010" y="321731"/>
            <a:ext cx="3278619" cy="366223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Espace réservé du contenu 8"/>
          <p:cNvPicPr>
            <a:picLocks noChangeAspect="1"/>
          </p:cNvPicPr>
          <p:nvPr/>
        </p:nvPicPr>
        <p:blipFill>
          <a:blip r:embed="rId1">
            <a:extLst>
              <a:ext uri="{28A0092B-C50C-407E-A947-70E740481C1C}">
                <a14:useLocalDpi xmlns:a14="http://schemas.microsoft.com/office/drawing/2010/main" val="0"/>
              </a:ext>
            </a:extLst>
          </a:blip>
          <a:srcRect l="6854" r="26183"/>
          <a:stretch>
            <a:fillRect/>
          </a:stretch>
        </p:blipFill>
        <p:spPr>
          <a:xfrm>
            <a:off x="6569894" y="721891"/>
            <a:ext cx="2958039" cy="2861913"/>
          </a:xfrm>
          <a:prstGeom prst="rect">
            <a:avLst/>
          </a:prstGeom>
        </p:spPr>
      </p:pic>
      <p:sp>
        <p:nvSpPr>
          <p:cNvPr id="46" name="Rectangle 45"/>
          <p:cNvSpPr>
            <a:spLocks noGrp="1" noRot="1" noChangeAspect="1" noMove="1" noResize="1" noEditPoints="1" noAdjustHandles="1" noChangeArrowheads="1" noChangeShapeType="1" noTextEdit="1"/>
          </p:cNvSpPr>
          <p:nvPr/>
        </p:nvSpPr>
        <p:spPr>
          <a:xfrm>
            <a:off x="9848513" y="311970"/>
            <a:ext cx="2028821" cy="1180366"/>
          </a:xfrm>
          <a:prstGeom prst="rect">
            <a:avLst/>
          </a:prstGeom>
          <a:solidFill>
            <a:schemeClr val="accent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a:spLocks noGrp="1" noRot="1" noChangeAspect="1" noMove="1" noResize="1" noEditPoints="1" noAdjustHandles="1" noChangeArrowheads="1" noChangeShapeType="1" noTextEdit="1"/>
          </p:cNvSpPr>
          <p:nvPr/>
        </p:nvSpPr>
        <p:spPr>
          <a:xfrm>
            <a:off x="9862872" y="1665817"/>
            <a:ext cx="2014462" cy="231814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p:cNvPicPr>
            <a:picLocks noChangeAspect="1"/>
          </p:cNvPicPr>
          <p:nvPr/>
        </p:nvPicPr>
        <p:blipFill>
          <a:blip r:embed="rId2">
            <a:extLst>
              <a:ext uri="{28A0092B-C50C-407E-A947-70E740481C1C}">
                <a14:useLocalDpi xmlns:a14="http://schemas.microsoft.com/office/drawing/2010/main" val="0"/>
              </a:ext>
            </a:extLst>
          </a:blip>
          <a:srcRect l="13403" r="44011" b="-2"/>
          <a:stretch>
            <a:fillRect/>
          </a:stretch>
        </p:blipFill>
        <p:spPr>
          <a:xfrm>
            <a:off x="10265242" y="1804306"/>
            <a:ext cx="1189038" cy="2017323"/>
          </a:xfrm>
          <a:prstGeom prst="rect">
            <a:avLst/>
          </a:prstGeom>
        </p:spPr>
      </p:pic>
      <p:sp>
        <p:nvSpPr>
          <p:cNvPr id="50" name="Rectangle 49"/>
          <p:cNvSpPr>
            <a:spLocks noGrp="1" noRot="1" noChangeAspect="1" noMove="1" noResize="1" noEditPoints="1" noAdjustHandles="1" noChangeArrowheads="1" noChangeShapeType="1" noTextEdit="1"/>
          </p:cNvSpPr>
          <p:nvPr/>
        </p:nvSpPr>
        <p:spPr>
          <a:xfrm>
            <a:off x="6405008" y="4157447"/>
            <a:ext cx="2104750" cy="2312282"/>
          </a:xfrm>
          <a:prstGeom prst="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a:spLocks noGrp="1" noRot="1" noChangeAspect="1" noMove="1" noResize="1" noEditPoints="1" noAdjustHandles="1" noChangeArrowheads="1" noChangeShapeType="1" noTextEdit="1"/>
          </p:cNvSpPr>
          <p:nvPr/>
        </p:nvSpPr>
        <p:spPr>
          <a:xfrm>
            <a:off x="8670625" y="4157447"/>
            <a:ext cx="3206709" cy="23122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p:cNvPicPr>
            <a:picLocks noChangeAspect="1"/>
          </p:cNvPicPr>
          <p:nvPr/>
        </p:nvPicPr>
        <p:blipFill>
          <a:blip r:embed="rId3"/>
          <a:srcRect l="7640" r="-1" b="-1"/>
          <a:stretch>
            <a:fillRect/>
          </a:stretch>
        </p:blipFill>
        <p:spPr>
          <a:xfrm>
            <a:off x="8833799" y="4436476"/>
            <a:ext cx="2880360" cy="17542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5902061" cy="1499616"/>
          </a:xfrm>
        </p:spPr>
        <p:txBody>
          <a:bodyPr>
            <a:normAutofit/>
          </a:bodyPr>
          <a:lstStyle/>
          <a:p>
            <a:r>
              <a:rPr lang="fr-FR" dirty="0"/>
              <a:t>Base de Données</a:t>
            </a:r>
            <a:endParaRPr lang="fr-FR" dirty="0"/>
          </a:p>
        </p:txBody>
      </p:sp>
      <p:cxnSp>
        <p:nvCxnSpPr>
          <p:cNvPr id="10" name="Straight Connector 9"/>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94E7FB"/>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5902061" cy="3931920"/>
          </a:xfrm>
        </p:spPr>
        <p:txBody>
          <a:bodyPr>
            <a:normAutofit/>
          </a:bodyPr>
          <a:lstStyle/>
          <a:p>
            <a:r>
              <a:rPr lang="fr-FR" dirty="0"/>
              <a:t>La base de données est composée d’une table principale appelée “</a:t>
            </a:r>
            <a:r>
              <a:rPr lang="fr-FR" dirty="0" err="1"/>
              <a:t>Telco</a:t>
            </a:r>
            <a:r>
              <a:rPr lang="fr-FR" dirty="0"/>
              <a:t>”. Elle contient des colonnes importantes comme </a:t>
            </a:r>
            <a:r>
              <a:rPr lang="fr-FR" dirty="0" err="1"/>
              <a:t>CustomerID</a:t>
            </a:r>
            <a:r>
              <a:rPr lang="fr-FR" dirty="0"/>
              <a:t>, </a:t>
            </a:r>
            <a:r>
              <a:rPr lang="fr-FR" dirty="0" err="1"/>
              <a:t>Churn</a:t>
            </a:r>
            <a:r>
              <a:rPr lang="fr-FR" dirty="0"/>
              <a:t>, Tenure, </a:t>
            </a:r>
            <a:r>
              <a:rPr lang="fr-FR" dirty="0" err="1"/>
              <a:t>MonthlyCharges</a:t>
            </a:r>
            <a:r>
              <a:rPr lang="fr-FR" dirty="0"/>
              <a:t> et </a:t>
            </a:r>
            <a:r>
              <a:rPr lang="fr-FR" dirty="0" err="1"/>
              <a:t>Contract</a:t>
            </a:r>
            <a:r>
              <a:rPr lang="fr-FR" dirty="0"/>
              <a:t>. Cette structure simple facilite l’analyse.</a:t>
            </a:r>
            <a:endParaRPr lang="fr-FR" dirty="0"/>
          </a:p>
        </p:txBody>
      </p:sp>
      <p:pic>
        <p:nvPicPr>
          <p:cNvPr id="5" name="Imag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26189" y="374755"/>
            <a:ext cx="4946021" cy="61609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9720072" cy="1499616"/>
          </a:xfrm>
        </p:spPr>
        <p:txBody>
          <a:bodyPr>
            <a:normAutofit/>
          </a:bodyPr>
          <a:lstStyle/>
          <a:p>
            <a:r>
              <a:rPr lang="fr-FR" dirty="0"/>
              <a:t>Analyse SQL</a:t>
            </a:r>
            <a:endParaRPr lang="fr-FR" dirty="0"/>
          </a:p>
        </p:txBody>
      </p:sp>
      <p:cxnSp>
        <p:nvCxnSpPr>
          <p:cNvPr id="10" name="Straight Connector 9"/>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Graphic 6" descr="Base de données"/>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7504" y="2386051"/>
            <a:ext cx="3448851" cy="3448851"/>
          </a:xfrm>
          <a:prstGeom prst="rect">
            <a:avLst/>
          </a:prstGeom>
        </p:spPr>
      </p:pic>
      <p:sp>
        <p:nvSpPr>
          <p:cNvPr id="3" name="Espace réservé du contenu 2"/>
          <p:cNvSpPr>
            <a:spLocks noGrp="1"/>
          </p:cNvSpPr>
          <p:nvPr>
            <p:ph idx="1"/>
          </p:nvPr>
        </p:nvSpPr>
        <p:spPr>
          <a:xfrm>
            <a:off x="5063613" y="2286000"/>
            <a:ext cx="5680587" cy="4023360"/>
          </a:xfrm>
        </p:spPr>
        <p:txBody>
          <a:bodyPr>
            <a:normAutofit/>
          </a:bodyPr>
          <a:lstStyle/>
          <a:p>
            <a:r>
              <a:rPr lang="fr-FR" b="1" dirty="0"/>
              <a:t>Les requêtes SQL permettent d’analyser la répartition du </a:t>
            </a:r>
            <a:r>
              <a:rPr lang="fr-FR" b="1" dirty="0" err="1"/>
              <a:t>churn</a:t>
            </a:r>
            <a:r>
              <a:rPr lang="fr-FR" b="1" dirty="0"/>
              <a:t>, les charges moyennes et les types de contrats. Ces analyses sont essentielles pour comprendre le comportement des clients</a:t>
            </a:r>
            <a:endParaRPr lang="fr-FR" dirty="0"/>
          </a:p>
          <a:p>
            <a:endParaRPr lang="fr-FR"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3133581" cy="1499616"/>
          </a:xfrm>
        </p:spPr>
        <p:txBody>
          <a:bodyPr vert="horz" lIns="91440" tIns="45720" rIns="91440" bIns="45720" rtlCol="0" anchor="ctr">
            <a:normAutofit/>
          </a:bodyPr>
          <a:lstStyle/>
          <a:p>
            <a:r>
              <a:rPr lang="en-US" sz="2200" b="1"/>
              <a:t>Diagramme : Répartition du Churn</a:t>
            </a:r>
            <a:br>
              <a:rPr lang="en-US" sz="2200" b="1"/>
            </a:br>
            <a:br>
              <a:rPr lang="en-US" sz="2200"/>
            </a:br>
            <a:endParaRPr lang="en-US" sz="2200"/>
          </a:p>
        </p:txBody>
      </p:sp>
      <p:cxnSp>
        <p:nvCxnSpPr>
          <p:cNvPr id="18" name="Straight Connector 11"/>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FF820E"/>
            </a:solidFill>
          </a:ln>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1024128" y="2286000"/>
            <a:ext cx="3133580" cy="3931920"/>
          </a:xfrm>
          <a:prstGeom prst="rect">
            <a:avLst/>
          </a:prstGeom>
        </p:spPr>
        <p:txBody>
          <a:bodyPr vert="horz" lIns="45720" tIns="45720" rIns="45720" bIns="45720" rtlCol="0">
            <a:normAutofit/>
          </a:bodyPr>
          <a:lstStyle/>
          <a:p>
            <a:pPr defTabSz="914400">
              <a:lnSpc>
                <a:spcPct val="90000"/>
              </a:lnSpc>
              <a:spcAft>
                <a:spcPts val="600"/>
              </a:spcAft>
              <a:buClr>
                <a:schemeClr val="accent2"/>
              </a:buClr>
              <a:buNone/>
            </a:pPr>
            <a:r>
              <a:rPr lang="en-US" sz="1600" dirty="0"/>
              <a:t>Ce </a:t>
            </a:r>
            <a:r>
              <a:rPr lang="en-US" sz="1600" dirty="0" err="1"/>
              <a:t>que</a:t>
            </a:r>
            <a:r>
              <a:rPr lang="en-US" sz="1600" dirty="0"/>
              <a:t> </a:t>
            </a:r>
            <a:r>
              <a:rPr lang="en-US" sz="1600" dirty="0" err="1"/>
              <a:t>tu</a:t>
            </a:r>
            <a:r>
              <a:rPr lang="en-US" sz="1600" dirty="0"/>
              <a:t> </a:t>
            </a:r>
            <a:r>
              <a:rPr lang="en-US" sz="1600" dirty="0" err="1"/>
              <a:t>vois</a:t>
            </a:r>
            <a:r>
              <a:rPr lang="en-US" sz="1600" dirty="0"/>
              <a:t> :</a:t>
            </a:r>
            <a:endParaRPr lang="en-US" sz="1600" dirty="0"/>
          </a:p>
          <a:p>
            <a:pPr defTabSz="914400">
              <a:lnSpc>
                <a:spcPct val="90000"/>
              </a:lnSpc>
              <a:spcAft>
                <a:spcPts val="600"/>
              </a:spcAft>
              <a:buClr>
                <a:schemeClr val="accent2"/>
              </a:buClr>
              <a:buFont typeface="Arial" panose="020B0604020202020204" pitchFamily="34" charset="0"/>
              <a:buChar char="•"/>
            </a:pPr>
            <a:r>
              <a:rPr lang="en-US" sz="1600" dirty="0"/>
              <a:t>Deux parties : </a:t>
            </a:r>
            <a:r>
              <a:rPr lang="en-US" sz="1600" b="1" dirty="0"/>
              <a:t>Yes (partis)</a:t>
            </a:r>
            <a:r>
              <a:rPr lang="en-US" sz="1600" dirty="0"/>
              <a:t> / </a:t>
            </a:r>
            <a:r>
              <a:rPr lang="en-US" sz="1600" b="1" dirty="0"/>
              <a:t>No (</a:t>
            </a:r>
            <a:r>
              <a:rPr lang="en-US" sz="1600" b="1" dirty="0" err="1"/>
              <a:t>restés</a:t>
            </a:r>
            <a:r>
              <a:rPr lang="en-US" sz="1600" b="1" dirty="0"/>
              <a:t>)</a:t>
            </a:r>
            <a:r>
              <a:rPr lang="en-US" sz="1600" dirty="0"/>
              <a:t> </a:t>
            </a:r>
            <a:endParaRPr lang="en-US" sz="1600" dirty="0"/>
          </a:p>
          <a:p>
            <a:pPr defTabSz="914400">
              <a:lnSpc>
                <a:spcPct val="90000"/>
              </a:lnSpc>
              <a:spcAft>
                <a:spcPts val="600"/>
              </a:spcAft>
              <a:buClr>
                <a:schemeClr val="accent2"/>
              </a:buClr>
              <a:buNone/>
            </a:pPr>
            <a:r>
              <a:rPr lang="en-US" sz="1600" dirty="0"/>
              <a:t> Comment </a:t>
            </a:r>
            <a:r>
              <a:rPr lang="en-US" sz="1600" dirty="0" err="1"/>
              <a:t>expliquer</a:t>
            </a:r>
            <a:r>
              <a:rPr lang="en-US" sz="1600" dirty="0"/>
              <a:t> :</a:t>
            </a:r>
            <a:endParaRPr lang="en-US" sz="1600" dirty="0"/>
          </a:p>
          <a:p>
            <a:pPr defTabSz="914400">
              <a:lnSpc>
                <a:spcPct val="90000"/>
              </a:lnSpc>
              <a:spcAft>
                <a:spcPts val="600"/>
              </a:spcAft>
              <a:buClr>
                <a:schemeClr val="accent2"/>
              </a:buClr>
              <a:buNone/>
            </a:pPr>
            <a:r>
              <a:rPr lang="en-US" sz="1600" dirty="0"/>
              <a:t>“Ce </a:t>
            </a:r>
            <a:r>
              <a:rPr lang="en-US" sz="1600" dirty="0" err="1"/>
              <a:t>diagramme</a:t>
            </a:r>
            <a:r>
              <a:rPr lang="en-US" sz="1600" dirty="0"/>
              <a:t> montre la </a:t>
            </a:r>
            <a:r>
              <a:rPr lang="en-US" sz="1600" dirty="0" err="1"/>
              <a:t>répartition</a:t>
            </a:r>
            <a:r>
              <a:rPr lang="en-US" sz="1600" dirty="0"/>
              <a:t> des clients. On observe </a:t>
            </a:r>
            <a:r>
              <a:rPr lang="en-US" sz="1600" dirty="0" err="1"/>
              <a:t>qu’une</a:t>
            </a:r>
            <a:r>
              <a:rPr lang="en-US" sz="1600" dirty="0"/>
              <a:t> </a:t>
            </a:r>
            <a:r>
              <a:rPr lang="en-US" sz="1600" dirty="0" err="1"/>
              <a:t>partie</a:t>
            </a:r>
            <a:r>
              <a:rPr lang="en-US" sz="1600" dirty="0"/>
              <a:t> </a:t>
            </a:r>
            <a:r>
              <a:rPr lang="en-US" sz="1600" dirty="0" err="1"/>
              <a:t>importante</a:t>
            </a:r>
            <a:r>
              <a:rPr lang="en-US" sz="1600" dirty="0"/>
              <a:t> des clients </a:t>
            </a:r>
            <a:r>
              <a:rPr lang="en-US" sz="1600" dirty="0" err="1"/>
              <a:t>quitte</a:t>
            </a:r>
            <a:r>
              <a:rPr lang="en-US" sz="1600" dirty="0"/>
              <a:t> </a:t>
            </a:r>
            <a:r>
              <a:rPr lang="en-US" sz="1600" dirty="0" err="1"/>
              <a:t>l’entreprise</a:t>
            </a:r>
            <a:r>
              <a:rPr lang="en-US" sz="1600" dirty="0"/>
              <a:t>.”</a:t>
            </a:r>
            <a:endParaRPr lang="en-US" sz="1600" dirty="0"/>
          </a:p>
          <a:p>
            <a:pPr defTabSz="914400">
              <a:lnSpc>
                <a:spcPct val="90000"/>
              </a:lnSpc>
              <a:spcAft>
                <a:spcPts val="600"/>
              </a:spcAft>
              <a:buClr>
                <a:schemeClr val="accent2"/>
              </a:buClr>
              <a:buNone/>
            </a:pPr>
            <a:r>
              <a:rPr lang="en-US" sz="1600" dirty="0"/>
              <a:t> </a:t>
            </a:r>
            <a:r>
              <a:rPr lang="en-US" sz="1600" dirty="0" err="1"/>
              <a:t>Interprétation</a:t>
            </a:r>
            <a:r>
              <a:rPr lang="en-US" sz="1600" dirty="0"/>
              <a:t> :</a:t>
            </a:r>
            <a:endParaRPr lang="en-US" sz="1600" dirty="0"/>
          </a:p>
          <a:p>
            <a:pPr defTabSz="914400">
              <a:lnSpc>
                <a:spcPct val="90000"/>
              </a:lnSpc>
              <a:spcAft>
                <a:spcPts val="600"/>
              </a:spcAft>
              <a:buClr>
                <a:schemeClr val="accent2"/>
              </a:buClr>
              <a:buFont typeface="Arial" panose="020B0604020202020204" pitchFamily="34" charset="0"/>
              <a:buChar char="•"/>
            </a:pPr>
            <a:r>
              <a:rPr lang="en-US" sz="1600" dirty="0"/>
              <a:t>Si la part “Yes” est grande → </a:t>
            </a:r>
            <a:endParaRPr lang="en-US" sz="1600" dirty="0"/>
          </a:p>
          <a:p>
            <a:pPr defTabSz="914400">
              <a:lnSpc>
                <a:spcPct val="90000"/>
              </a:lnSpc>
              <a:spcAft>
                <a:spcPts val="600"/>
              </a:spcAft>
              <a:buClr>
                <a:schemeClr val="accent2"/>
              </a:buClr>
              <a:buFont typeface="Arial" panose="020B0604020202020204" pitchFamily="34" charset="0"/>
              <a:buChar char="•"/>
            </a:pPr>
            <a:r>
              <a:rPr lang="en-US" sz="1600" dirty="0" err="1"/>
              <a:t>problème</a:t>
            </a:r>
            <a:r>
              <a:rPr lang="en-US" sz="1600" dirty="0"/>
              <a:t> </a:t>
            </a:r>
            <a:endParaRPr lang="en-US" sz="1600" dirty="0"/>
          </a:p>
          <a:p>
            <a:pPr defTabSz="914400">
              <a:lnSpc>
                <a:spcPct val="90000"/>
              </a:lnSpc>
              <a:spcAft>
                <a:spcPts val="600"/>
              </a:spcAft>
              <a:buClr>
                <a:schemeClr val="accent2"/>
              </a:buClr>
              <a:buFont typeface="Arial" panose="020B0604020202020204" pitchFamily="34" charset="0"/>
              <a:buChar char="•"/>
            </a:pPr>
            <a:r>
              <a:rPr lang="en-US" sz="1600" dirty="0"/>
              <a:t>Si </a:t>
            </a:r>
            <a:r>
              <a:rPr lang="en-US" sz="1600" dirty="0" err="1"/>
              <a:t>elle</a:t>
            </a:r>
            <a:r>
              <a:rPr lang="en-US" sz="1600" dirty="0"/>
              <a:t> est petite → situation stable</a:t>
            </a:r>
            <a:endParaRPr lang="en-US" sz="1600" dirty="0"/>
          </a:p>
        </p:txBody>
      </p:sp>
      <p:pic>
        <p:nvPicPr>
          <p:cNvPr id="5" name="Espace réservé du contenu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179336" y="2311284"/>
            <a:ext cx="6909577" cy="3060242"/>
          </a:xfrm>
          <a:prstGeom prst="rect">
            <a:avLst/>
          </a:prstGeom>
        </p:spPr>
      </p:pic>
      <p:sp>
        <p:nvSpPr>
          <p:cNvPr id="9" name="ZoneTexte 8"/>
          <p:cNvSpPr txBox="1"/>
          <p:nvPr/>
        </p:nvSpPr>
        <p:spPr>
          <a:xfrm>
            <a:off x="6098500" y="808672"/>
            <a:ext cx="6093500" cy="1477328"/>
          </a:xfrm>
          <a:prstGeom prst="rect">
            <a:avLst/>
          </a:prstGeom>
          <a:noFill/>
        </p:spPr>
        <p:txBody>
          <a:bodyPr wrap="square">
            <a:spAutoFit/>
          </a:bodyPr>
          <a:lstStyle/>
          <a:p>
            <a:pPr rtl="0">
              <a:buNone/>
            </a:pPr>
            <a:r>
              <a:rPr lang="en-US" dirty="0"/>
              <a:t>SELECT </a:t>
            </a:r>
            <a:br>
              <a:rPr lang="en-US" dirty="0"/>
            </a:br>
            <a:r>
              <a:rPr lang="en-US" dirty="0"/>
              <a:t>Churn,</a:t>
            </a:r>
            <a:br>
              <a:rPr lang="en-US" dirty="0"/>
            </a:br>
            <a:r>
              <a:rPr lang="en-US" dirty="0"/>
              <a:t>COUNT(*) AS </a:t>
            </a:r>
            <a:r>
              <a:rPr lang="en-US" dirty="0" err="1"/>
              <a:t>TotalClients</a:t>
            </a:r>
            <a:br>
              <a:rPr lang="en-US" dirty="0"/>
            </a:br>
            <a:r>
              <a:rPr lang="en-US" dirty="0"/>
              <a:t>FROM Telco</a:t>
            </a:r>
            <a:br>
              <a:rPr lang="en-US" dirty="0"/>
            </a:br>
            <a:r>
              <a:rPr lang="en-US" dirty="0"/>
              <a:t>GROUP BY Churn;</a:t>
            </a:r>
            <a:endParaRPr lang="en-US" dirty="0"/>
          </a:p>
        </p:txBody>
      </p:sp>
      <p:sp>
        <p:nvSpPr>
          <p:cNvPr id="11" name="ZoneTexte 10"/>
          <p:cNvSpPr txBox="1"/>
          <p:nvPr/>
        </p:nvSpPr>
        <p:spPr>
          <a:xfrm>
            <a:off x="3951401" y="5756255"/>
            <a:ext cx="6093500" cy="1200329"/>
          </a:xfrm>
          <a:prstGeom prst="rect">
            <a:avLst/>
          </a:prstGeom>
          <a:noFill/>
        </p:spPr>
        <p:txBody>
          <a:bodyPr wrap="square">
            <a:spAutoFit/>
          </a:bodyPr>
          <a:lstStyle/>
          <a:p>
            <a:r>
              <a:rPr lang="fr-FR" b="1" dirty="0"/>
              <a:t>Ce diagramme circulaire montre la proportion des clients qui quittent le service. On observe qu’une part importante de clients quitte l’entreprise, ce qui représente un risque important.</a:t>
            </a:r>
            <a:endParaRPr lang="fr-F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3133581" cy="1499616"/>
          </a:xfrm>
        </p:spPr>
        <p:txBody>
          <a:bodyPr>
            <a:normAutofit/>
          </a:bodyPr>
          <a:lstStyle/>
          <a:p>
            <a:r>
              <a:rPr lang="fr-FR" sz="3700"/>
              <a:t>Diagramme : Charges vs Churn</a:t>
            </a:r>
            <a:endParaRPr lang="fr-FR" sz="3700"/>
          </a:p>
        </p:txBody>
      </p:sp>
      <p:cxnSp>
        <p:nvCxnSpPr>
          <p:cNvPr id="10" name="Straight Connector 9"/>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1F78B3"/>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3133580" cy="3931920"/>
          </a:xfrm>
        </p:spPr>
        <p:txBody>
          <a:bodyPr>
            <a:normAutofit/>
          </a:bodyPr>
          <a:lstStyle/>
          <a:p>
            <a:r>
              <a:rPr lang="fr-FR" sz="1600" dirty="0"/>
              <a:t> Ce que tu vois : 2 barres : clients partis clients restés  Comment expliquer : “Les clients qui quittent ont en moyenne des charges mensuelles plus élevées.”  Interprétation : Prix élevé = clients partent </a:t>
            </a:r>
            <a:endParaRPr lang="fr-FR" sz="1600" dirty="0"/>
          </a:p>
        </p:txBody>
      </p:sp>
      <p:pic>
        <p:nvPicPr>
          <p:cNvPr id="5" name="Imag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87220" y="2285999"/>
            <a:ext cx="6065519" cy="2979175"/>
          </a:xfrm>
          <a:prstGeom prst="rect">
            <a:avLst/>
          </a:prstGeom>
        </p:spPr>
      </p:pic>
      <p:sp>
        <p:nvSpPr>
          <p:cNvPr id="7" name="ZoneTexte 6"/>
          <p:cNvSpPr txBox="1"/>
          <p:nvPr/>
        </p:nvSpPr>
        <p:spPr>
          <a:xfrm>
            <a:off x="5559239" y="430085"/>
            <a:ext cx="6093500" cy="1477328"/>
          </a:xfrm>
          <a:prstGeom prst="rect">
            <a:avLst/>
          </a:prstGeom>
          <a:noFill/>
        </p:spPr>
        <p:txBody>
          <a:bodyPr wrap="square">
            <a:spAutoFit/>
          </a:bodyPr>
          <a:lstStyle/>
          <a:p>
            <a:r>
              <a:rPr lang="en-US" dirty="0"/>
              <a:t>SELECT </a:t>
            </a:r>
            <a:br>
              <a:rPr lang="en-US" dirty="0"/>
            </a:br>
            <a:r>
              <a:rPr lang="en-US" dirty="0"/>
              <a:t>Churn,</a:t>
            </a:r>
            <a:br>
              <a:rPr lang="en-US" dirty="0"/>
            </a:br>
            <a:r>
              <a:rPr lang="en-US" dirty="0"/>
              <a:t>AVG(CAST(</a:t>
            </a:r>
            <a:r>
              <a:rPr lang="en-US" dirty="0" err="1"/>
              <a:t>MonthlyCharges</a:t>
            </a:r>
            <a:r>
              <a:rPr lang="en-US" dirty="0"/>
              <a:t> AS FLOAT)) AS </a:t>
            </a:r>
            <a:r>
              <a:rPr lang="en-US" dirty="0" err="1"/>
              <a:t>AvgMonthlyCharges</a:t>
            </a:r>
            <a:br>
              <a:rPr lang="en-US" dirty="0"/>
            </a:br>
            <a:r>
              <a:rPr lang="en-US" dirty="0"/>
              <a:t>FROM Telco</a:t>
            </a:r>
            <a:br>
              <a:rPr lang="en-US" dirty="0"/>
            </a:br>
            <a:r>
              <a:rPr lang="en-US" dirty="0"/>
              <a:t>GROUP BY Churn;</a:t>
            </a:r>
            <a:endParaRPr lang="fr-FR" dirty="0"/>
          </a:p>
        </p:txBody>
      </p:sp>
      <p:sp>
        <p:nvSpPr>
          <p:cNvPr id="9" name="ZoneTexte 8"/>
          <p:cNvSpPr txBox="1"/>
          <p:nvPr/>
        </p:nvSpPr>
        <p:spPr>
          <a:xfrm>
            <a:off x="3046771" y="5643760"/>
            <a:ext cx="6098458" cy="923330"/>
          </a:xfrm>
          <a:prstGeom prst="rect">
            <a:avLst/>
          </a:prstGeom>
          <a:noFill/>
        </p:spPr>
        <p:txBody>
          <a:bodyPr wrap="square">
            <a:spAutoFit/>
          </a:bodyPr>
          <a:lstStyle/>
          <a:p>
            <a:r>
              <a:rPr lang="fr-FR" b="1" dirty="0"/>
              <a:t>Ce diagramme en barres montre que les clients ayant des charges élevées sont plus susceptibles de quitter le service. Cela signifie que le prix est un facteur important du </a:t>
            </a:r>
            <a:r>
              <a:rPr lang="fr-FR" b="1" dirty="0" err="1"/>
              <a:t>churn</a:t>
            </a:r>
            <a:r>
              <a:rPr lang="fr-FR" b="1" dirty="0"/>
              <a:t>.</a:t>
            </a:r>
            <a:endParaRPr lang="fr-FR"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3133581" cy="1499616"/>
          </a:xfrm>
        </p:spPr>
        <p:txBody>
          <a:bodyPr>
            <a:normAutofit/>
          </a:bodyPr>
          <a:lstStyle/>
          <a:p>
            <a:r>
              <a:rPr lang="fr-FR" sz="4000"/>
              <a:t>Diagramme : Type de Contrat</a:t>
            </a:r>
            <a:endParaRPr lang="fr-FR" sz="4000"/>
          </a:p>
        </p:txBody>
      </p:sp>
      <p:cxnSp>
        <p:nvCxnSpPr>
          <p:cNvPr id="10" name="Straight Connector 9"/>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FE8012"/>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3133580" cy="3931920"/>
          </a:xfrm>
        </p:spPr>
        <p:txBody>
          <a:bodyPr>
            <a:normAutofit/>
          </a:bodyPr>
          <a:lstStyle/>
          <a:p>
            <a:r>
              <a:rPr lang="fr-FR" sz="1600" dirty="0"/>
              <a:t>Ce que tu vois : plusieurs barres : </a:t>
            </a:r>
            <a:r>
              <a:rPr lang="fr-FR" sz="1600" dirty="0" err="1"/>
              <a:t>Monthly</a:t>
            </a:r>
            <a:r>
              <a:rPr lang="fr-FR" sz="1600" dirty="0"/>
              <a:t>  One </a:t>
            </a:r>
            <a:r>
              <a:rPr lang="fr-FR" sz="1600" dirty="0" err="1"/>
              <a:t>year</a:t>
            </a:r>
            <a:r>
              <a:rPr lang="fr-FR" sz="1600" dirty="0"/>
              <a:t>  </a:t>
            </a:r>
            <a:r>
              <a:rPr lang="fr-FR" sz="1600" dirty="0" err="1"/>
              <a:t>Two</a:t>
            </a:r>
            <a:r>
              <a:rPr lang="fr-FR" sz="1600" dirty="0"/>
              <a:t> </a:t>
            </a:r>
            <a:r>
              <a:rPr lang="fr-FR" sz="1600" dirty="0" err="1"/>
              <a:t>year</a:t>
            </a:r>
            <a:r>
              <a:rPr lang="fr-FR" sz="1600" dirty="0"/>
              <a:t>  Comment expliquer : “Les clients avec contrat mensuel quittent beaucoup plus que ceux avec contrat à long terme.”  </a:t>
            </a:r>
            <a:endParaRPr lang="fr-FR" sz="1600" dirty="0"/>
          </a:p>
          <a:p>
            <a:r>
              <a:rPr lang="fr-FR" sz="1600" dirty="0"/>
              <a:t>Interprétation : contrat court=instabilité</a:t>
            </a:r>
            <a:endParaRPr lang="fr-FR" sz="1600" dirty="0"/>
          </a:p>
          <a:p>
            <a:r>
              <a:rPr lang="fr-FR" sz="1600" dirty="0"/>
              <a:t>                      contrat long = fidélité </a:t>
            </a:r>
            <a:endParaRPr lang="fr-FR" sz="1600" dirty="0"/>
          </a:p>
        </p:txBody>
      </p:sp>
      <p:pic>
        <p:nvPicPr>
          <p:cNvPr id="5" name="Imag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82423" y="2084832"/>
            <a:ext cx="6909577" cy="3194708"/>
          </a:xfrm>
          <a:prstGeom prst="rect">
            <a:avLst/>
          </a:prstGeom>
        </p:spPr>
      </p:pic>
      <p:sp>
        <p:nvSpPr>
          <p:cNvPr id="7" name="ZoneTexte 6"/>
          <p:cNvSpPr txBox="1"/>
          <p:nvPr/>
        </p:nvSpPr>
        <p:spPr>
          <a:xfrm>
            <a:off x="5794811" y="319361"/>
            <a:ext cx="6093500" cy="2031325"/>
          </a:xfrm>
          <a:prstGeom prst="rect">
            <a:avLst/>
          </a:prstGeom>
          <a:noFill/>
        </p:spPr>
        <p:txBody>
          <a:bodyPr wrap="square">
            <a:spAutoFit/>
          </a:bodyPr>
          <a:lstStyle/>
          <a:p>
            <a:r>
              <a:rPr lang="en-US" dirty="0"/>
              <a:t>SELECT </a:t>
            </a:r>
            <a:br>
              <a:rPr lang="en-US" dirty="0"/>
            </a:br>
            <a:r>
              <a:rPr lang="en-US" dirty="0"/>
              <a:t>Contract,</a:t>
            </a:r>
            <a:br>
              <a:rPr lang="en-US" dirty="0"/>
            </a:br>
            <a:r>
              <a:rPr lang="en-US" dirty="0"/>
              <a:t>Churn,</a:t>
            </a:r>
            <a:br>
              <a:rPr lang="en-US" dirty="0"/>
            </a:br>
            <a:r>
              <a:rPr lang="en-US" dirty="0"/>
              <a:t>COUNT(*) AS Total</a:t>
            </a:r>
            <a:br>
              <a:rPr lang="en-US" dirty="0"/>
            </a:br>
            <a:r>
              <a:rPr lang="en-US" dirty="0"/>
              <a:t>FROM Telco</a:t>
            </a:r>
            <a:br>
              <a:rPr lang="en-US" dirty="0"/>
            </a:br>
            <a:r>
              <a:rPr lang="en-US" dirty="0"/>
              <a:t>GROUP BY Contract, Churn</a:t>
            </a:r>
            <a:br>
              <a:rPr lang="en-US" dirty="0"/>
            </a:br>
            <a:r>
              <a:rPr lang="en-US" dirty="0"/>
              <a:t>ORDER BY Contract;</a:t>
            </a:r>
            <a:endParaRPr lang="fr-FR" dirty="0"/>
          </a:p>
        </p:txBody>
      </p:sp>
      <p:sp>
        <p:nvSpPr>
          <p:cNvPr id="9" name="ZoneTexte 8"/>
          <p:cNvSpPr txBox="1"/>
          <p:nvPr/>
        </p:nvSpPr>
        <p:spPr>
          <a:xfrm>
            <a:off x="3569110" y="5495758"/>
            <a:ext cx="6687056" cy="923330"/>
          </a:xfrm>
          <a:prstGeom prst="rect">
            <a:avLst/>
          </a:prstGeom>
          <a:noFill/>
        </p:spPr>
        <p:txBody>
          <a:bodyPr wrap="square">
            <a:spAutoFit/>
          </a:bodyPr>
          <a:lstStyle/>
          <a:p>
            <a:r>
              <a:rPr lang="fr-FR" b="1" dirty="0"/>
              <a:t>Ce graphique montre que les clients avec des contrats mensuels quittent plus souvent que ceux avec des contrats à long terme. Cela indique que la durée du contrat influence la fidélité.</a:t>
            </a:r>
            <a:endParaRPr lang="fr-F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6066818" cy="1499616"/>
          </a:xfrm>
        </p:spPr>
        <p:txBody>
          <a:bodyPr>
            <a:normAutofit/>
          </a:bodyPr>
          <a:lstStyle/>
          <a:p>
            <a:r>
              <a:rPr lang="fr-FR" dirty="0"/>
              <a:t>Interprétation</a:t>
            </a:r>
            <a:endParaRPr lang="fr-FR" dirty="0"/>
          </a:p>
        </p:txBody>
      </p:sp>
      <p:cxnSp>
        <p:nvCxnSpPr>
          <p:cNvPr id="9" name="Straight Connector 8"/>
          <p:cNvCxnSpPr>
            <a:cxnSpLocks noGrp="1" noRot="1" noChangeAspect="1" noMove="1" noResize="1" noEditPoints="1" noAdjustHandles="1" noChangeArrowheads="1" noChangeShapeType="1"/>
          </p:cNvCxnSpPr>
          <p:nvPr/>
        </p:nvCxnSpPr>
        <p:spPr>
          <a:xfrm flipV="1">
            <a:off x="762000" y="826324"/>
            <a:ext cx="0" cy="914400"/>
          </a:xfrm>
          <a:prstGeom prst="line">
            <a:avLst/>
          </a:prstGeom>
          <a:ln w="19050">
            <a:solidFill>
              <a:srgbClr val="11C7E1"/>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p:cNvSpPr>
            <a:spLocks noGrp="1"/>
          </p:cNvSpPr>
          <p:nvPr>
            <p:ph idx="1"/>
          </p:nvPr>
        </p:nvSpPr>
        <p:spPr>
          <a:xfrm>
            <a:off x="1024128" y="2286000"/>
            <a:ext cx="6066818" cy="4023360"/>
          </a:xfrm>
        </p:spPr>
        <p:txBody>
          <a:bodyPr>
            <a:normAutofit/>
          </a:bodyPr>
          <a:lstStyle/>
          <a:p>
            <a:r>
              <a:rPr lang="fr-FR" dirty="0"/>
              <a:t>Les résultats montrent que les nouveaux clients quittent plus rapidement. Les prix élevés et les contrats courts augmentent le </a:t>
            </a:r>
            <a:r>
              <a:rPr lang="fr-FR" dirty="0" err="1"/>
              <a:t>churn</a:t>
            </a:r>
            <a:r>
              <a:rPr lang="fr-FR" dirty="0"/>
              <a:t>. Ces éléments sont les principaux facteurs à surveiller.</a:t>
            </a:r>
            <a:endParaRPr lang="fr-FR" dirty="0"/>
          </a:p>
        </p:txBody>
      </p:sp>
      <p:pic>
        <p:nvPicPr>
          <p:cNvPr id="5" name="Picture 4"/>
          <p:cNvPicPr>
            <a:picLocks noChangeAspect="1"/>
          </p:cNvPicPr>
          <p:nvPr/>
        </p:nvPicPr>
        <p:blipFill>
          <a:blip r:embed="rId1"/>
          <a:srcRect r="61775" b="-445"/>
          <a:stretch>
            <a:fillRect/>
          </a:stretch>
        </p:blipFill>
        <p:spPr>
          <a:xfrm>
            <a:off x="7552266" y="10"/>
            <a:ext cx="4639733" cy="6857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conclusion :</a:t>
            </a:r>
            <a:br>
              <a:rPr lang="fr-FR"/>
            </a:br>
            <a:endParaRPr lang="fr-FR"/>
          </a:p>
        </p:txBody>
      </p:sp>
      <p:sp>
        <p:nvSpPr>
          <p:cNvPr id="3" name="Espace réservé du contenu 2"/>
          <p:cNvSpPr>
            <a:spLocks noGrp="1"/>
          </p:cNvSpPr>
          <p:nvPr>
            <p:ph idx="1"/>
          </p:nvPr>
        </p:nvSpPr>
        <p:spPr/>
        <p:txBody>
          <a:bodyPr>
            <a:normAutofit/>
          </a:bodyPr>
          <a:lstStyle/>
          <a:p>
            <a:r>
              <a:rPr lang="fr-FR" sz="2400" b="1" dirty="0">
                <a:solidFill>
                  <a:srgbClr val="00B050"/>
                </a:solidFill>
              </a:rPr>
              <a:t>Le </a:t>
            </a:r>
            <a:r>
              <a:rPr lang="fr-FR" sz="2400" b="1" dirty="0" err="1">
                <a:solidFill>
                  <a:srgbClr val="00B050"/>
                </a:solidFill>
              </a:rPr>
              <a:t>churn</a:t>
            </a:r>
            <a:r>
              <a:rPr lang="fr-FR" sz="2400" b="1" dirty="0">
                <a:solidFill>
                  <a:srgbClr val="00B050"/>
                </a:solidFill>
              </a:rPr>
              <a:t> est un problème critique pour l’entreprise. Les facteurs principaux sont le prix, le type de contrat et l’ancienneté. Pour réduire le </a:t>
            </a:r>
            <a:r>
              <a:rPr lang="fr-FR" sz="2400" b="1" dirty="0" err="1">
                <a:solidFill>
                  <a:srgbClr val="00B050"/>
                </a:solidFill>
              </a:rPr>
              <a:t>churn</a:t>
            </a:r>
            <a:r>
              <a:rPr lang="fr-FR" sz="2400" b="1" dirty="0">
                <a:solidFill>
                  <a:srgbClr val="00B050"/>
                </a:solidFill>
              </a:rPr>
              <a:t>, l’entreprise doit améliorer la satisfaction client, proposer des offres promotionnelles et encourager les contrats long terme</a:t>
            </a:r>
            <a:endParaRPr lang="fr-FR" sz="2400" b="1" dirty="0">
              <a:solidFill>
                <a:srgbClr val="00B05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Inté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3867</Words>
  <Application>WPS Presentation</Application>
  <PresentationFormat>Grand écran</PresentationFormat>
  <Paragraphs>92</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Tw Cen MT</vt:lpstr>
      <vt:lpstr>Wingdings 3</vt:lpstr>
      <vt:lpstr>Tw Cen MT Condensed</vt:lpstr>
      <vt:lpstr>Microsoft YaHei</vt:lpstr>
      <vt:lpstr>Arial Unicode MS</vt:lpstr>
      <vt:lpstr>Calibri</vt:lpstr>
      <vt:lpstr>Intégral</vt:lpstr>
      <vt:lpstr>Projet Data Analytics – Telco Customer Churn  </vt:lpstr>
      <vt:lpstr>Introduction Paragraphe : </vt:lpstr>
      <vt:lpstr>Objectif du Projet</vt:lpstr>
      <vt:lpstr>Description du Dataset</vt:lpstr>
      <vt:lpstr>PowerPoint 演示文稿</vt:lpstr>
      <vt:lpstr>Outils Utilisés</vt:lpstr>
      <vt:lpstr>GUITHUB :</vt:lpstr>
      <vt:lpstr>Base de Données</vt:lpstr>
      <vt:lpstr>Analyse SQL</vt:lpstr>
      <vt:lpstr>Diagramme : Répartition du Churn  </vt:lpstr>
      <vt:lpstr>Diagramme : Charges vs Churn</vt:lpstr>
      <vt:lpstr>Diagramme : Type de Contrat</vt:lpstr>
      <vt:lpstr>Interprétation</vt:lpstr>
      <vt:lpstr>conclusion :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Emna Sahli</cp:lastModifiedBy>
  <cp:revision>4</cp:revision>
  <dcterms:created xsi:type="dcterms:W3CDTF">2026-04-14T01:20:00Z</dcterms:created>
  <dcterms:modified xsi:type="dcterms:W3CDTF">2026-04-14T03:43:44Z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623BC5792E95400BA2ACED5D14F74330_12</vt:lpwstr>
  </property>
  <property fmtid="{D5CDD505-2E9C-101B-9397-08002B2CF9AE}" pid="3" name="KSOProductBuildVer">
    <vt:lpwstr>1036-12.2.0.23196</vt:lpwstr>
  </property>
</Properties>
</file>