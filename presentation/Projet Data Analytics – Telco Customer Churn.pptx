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00" autoAdjust="0"/>
    <p:restoredTop sz="94660"/>
  </p:normalViewPr>
  <p:slideViewPr>
    <p:cSldViewPr snapToGrid="0">
      <p:cViewPr varScale="1">
        <p:scale>
          <a:sx n="108" d="100"/>
          <a:sy n="108" d="100"/>
        </p:scale>
        <p:origin x="714"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457200" y="4960137"/>
            <a:ext cx="7772400" cy="1463040"/>
          </a:xfrm>
        </p:spPr>
        <p:txBody>
          <a:bodyPr anchor="ctr">
            <a:normAutofit/>
          </a:bodyPr>
          <a:lstStyle>
            <a:lvl1pPr algn="r">
              <a:defRPr sz="5000" spc="200" baseline="0"/>
            </a:lvl1pPr>
          </a:lstStyle>
          <a:p>
            <a:r>
              <a:rPr lang="fr-FR"/>
              <a:t>Modifiez le style du titre</a:t>
            </a:r>
            <a:endParaRPr lang="en-US" dirty="0"/>
          </a:p>
        </p:txBody>
      </p:sp>
      <p:sp>
        <p:nvSpPr>
          <p:cNvPr id="3" name="Subtitle 2"/>
          <p:cNvSpPr>
            <a:spLocks noGrp="1"/>
          </p:cNvSpPr>
          <p:nvPr>
            <p:ph type="subTitle" idx="1" hasCustomPrompt="1"/>
          </p:nvPr>
        </p:nvSpPr>
        <p:spPr>
          <a:xfrm>
            <a:off x="8610600" y="4960137"/>
            <a:ext cx="3200400" cy="1463040"/>
          </a:xfrm>
        </p:spPr>
        <p:txBody>
          <a:bodyPr lIns="91440" rIns="9144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r>
              <a:rPr lang="fr-FR"/>
              <a:t>Modifiez le style des sous-titres du masque</a:t>
            </a:r>
            <a:endParaRPr lang="en-US" dirty="0"/>
          </a:p>
        </p:txBody>
      </p:sp>
      <p:sp>
        <p:nvSpPr>
          <p:cNvPr id="4" name="Date Placeholder 3"/>
          <p:cNvSpPr>
            <a:spLocks noGrp="1"/>
          </p:cNvSpPr>
          <p:nvPr>
            <p:ph type="dt" sz="half" idx="10"/>
          </p:nvPr>
        </p:nvSpPr>
        <p:spPr/>
        <p:txBody>
          <a:bodyPr/>
          <a:lstStyle>
            <a:lvl1pPr algn="l">
              <a:defRPr/>
            </a:lvl1pPr>
          </a:lstStyle>
          <a:p>
            <a:fld id="{67F45AC6-C491-4585-A584-9CE2AF7D5500}" type="datetime1">
              <a:rPr lang="en-US" smtClean="0"/>
              <a:t>4/14/2026</a:t>
            </a:fld>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t>‹N°›</a:t>
            </a:fld>
            <a:endParaRPr lang="en-US"/>
          </a:p>
        </p:txBody>
      </p:sp>
      <p:cxnSp>
        <p:nvCxnSpPr>
          <p:cNvPr id="13" name="Straight Connector 12"/>
          <p:cNvCxnSpPr/>
          <p:nvPr/>
        </p:nvCxnSpPr>
        <p:spPr>
          <a:xfrm flipV="1">
            <a:off x="8386842" y="5264106"/>
            <a:ext cx="0" cy="914400"/>
          </a:xfrm>
          <a:prstGeom prst="line">
            <a:avLst/>
          </a:prstGeom>
          <a:ln w="19050">
            <a:solidFill>
              <a:schemeClr val="accent2"/>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0" y="-1"/>
            <a:ext cx="12192000" cy="457200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hasCustomPrompt="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67F45AC6-C491-4585-A584-9CE2AF7D5500}" type="datetime1">
              <a:rPr lang="en-US" smtClean="0"/>
              <a:t>4/14/2026</a:t>
            </a:fld>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t>‹N°›</a:t>
            </a:fld>
            <a:endParaRPr lang="en-US"/>
          </a:p>
        </p:txBody>
      </p:sp>
    </p:spTree>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4960137"/>
            <a:ext cx="7772400" cy="1463040"/>
          </a:xfrm>
        </p:spPr>
        <p:txBody>
          <a:bodyPr anchor="ctr">
            <a:normAutofit/>
          </a:bodyPr>
          <a:lstStyle>
            <a:lvl1pPr algn="r">
              <a:defRPr sz="5000" b="0" spc="200" baseline="0"/>
            </a:lvl1pPr>
          </a:lstStyle>
          <a:p>
            <a:r>
              <a:rPr lang="fr-FR"/>
              <a:t>Modifiez le style du titre</a:t>
            </a:r>
            <a:endParaRPr lang="en-US" dirty="0"/>
          </a:p>
        </p:txBody>
      </p:sp>
      <p:sp>
        <p:nvSpPr>
          <p:cNvPr id="3" name="Text Placeholder 2"/>
          <p:cNvSpPr>
            <a:spLocks noGrp="1"/>
          </p:cNvSpPr>
          <p:nvPr>
            <p:ph type="body" idx="1" hasCustomPrompt="1"/>
          </p:nvPr>
        </p:nvSpPr>
        <p:spPr>
          <a:xfrm>
            <a:off x="8610600" y="4960137"/>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67F45AC6-C491-4585-A584-9CE2AF7D5500}" type="datetime1">
              <a:rPr lang="en-US" smtClean="0"/>
              <a:t>4/14/2026</a:t>
            </a:fld>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t>‹N°›</a:t>
            </a:fld>
            <a:endParaRPr lang="en-US"/>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flipV="1">
            <a:off x="8386842" y="5264106"/>
            <a:ext cx="0" cy="914400"/>
          </a:xfrm>
          <a:prstGeom prst="line">
            <a:avLst/>
          </a:prstGeom>
          <a:ln w="19050">
            <a:solidFill>
              <a:schemeClr val="accent3"/>
            </a:solidFill>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0" y="-1"/>
            <a:ext cx="12192000" cy="4572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a:xfrm>
            <a:off x="1024128" y="585216"/>
            <a:ext cx="9720072" cy="1499616"/>
          </a:xfrm>
        </p:spPr>
        <p:txBody>
          <a:bodyPr/>
          <a:lstStyle/>
          <a:p>
            <a:r>
              <a:rPr lang="fr-FR"/>
              <a:t>Modifiez le style du titre</a:t>
            </a:r>
            <a:endParaRPr lang="en-US" dirty="0"/>
          </a:p>
        </p:txBody>
      </p:sp>
      <p:sp>
        <p:nvSpPr>
          <p:cNvPr id="3" name="Content Placeholder 2"/>
          <p:cNvSpPr>
            <a:spLocks noGrp="1"/>
          </p:cNvSpPr>
          <p:nvPr>
            <p:ph sz="half" idx="1" hasCustomPrompt="1"/>
          </p:nvPr>
        </p:nvSpPr>
        <p:spPr>
          <a:xfrm>
            <a:off x="1024127" y="2286000"/>
            <a:ext cx="4754880" cy="4023360"/>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hasCustomPrompt="1"/>
          </p:nvPr>
        </p:nvSpPr>
        <p:spPr>
          <a:xfrm>
            <a:off x="5989320" y="2286000"/>
            <a:ext cx="4754880" cy="4023360"/>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fld id="{67F45AC6-C491-4585-A584-9CE2AF7D5500}" type="datetime1">
              <a:rPr lang="en-US" smtClean="0"/>
              <a:t>4/14/2026</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C057153-B650-4DEB-B370-79DDCFDCE934}" type="slidenum">
              <a:rPr lang="en-US" smtClean="0"/>
              <a:t>‹N°›</a:t>
            </a:fld>
            <a:endParaRPr lang="en-US"/>
          </a:p>
        </p:txBody>
      </p:sp>
    </p:spTree>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fr-FR"/>
              <a:t>Modifiez le style du titre</a:t>
            </a:r>
            <a:endParaRPr lang="en-US" dirty="0"/>
          </a:p>
        </p:txBody>
      </p:sp>
      <p:sp>
        <p:nvSpPr>
          <p:cNvPr id="3" name="Text Placeholder 2"/>
          <p:cNvSpPr>
            <a:spLocks noGrp="1"/>
          </p:cNvSpPr>
          <p:nvPr>
            <p:ph type="body" idx="1" hasCustomPrompt="1"/>
          </p:nvPr>
        </p:nvSpPr>
        <p:spPr>
          <a:xfrm>
            <a:off x="1024128" y="2179636"/>
            <a:ext cx="4754880" cy="822960"/>
          </a:xfrm>
        </p:spPr>
        <p:txBody>
          <a:bodyPr lIns="137160" rIns="137160" anchor="ctr">
            <a:normAutofit/>
          </a:bodyPr>
          <a:lstStyle>
            <a:lvl1pPr marL="0" indent="0">
              <a:spcBef>
                <a:spcPts val="0"/>
              </a:spcBef>
              <a:spcAft>
                <a:spcPts val="0"/>
              </a:spcAft>
              <a:buNone/>
              <a:defRPr sz="2300" b="0" cap="none" baseline="0">
                <a:solidFill>
                  <a:schemeClr val="accent2">
                    <a:lumMod val="75000"/>
                  </a:schemeClr>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hasCustomPrompt="1"/>
          </p:nvPr>
        </p:nvSpPr>
        <p:spPr>
          <a:xfrm>
            <a:off x="1024128" y="2967788"/>
            <a:ext cx="4754880" cy="3341572"/>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hasCustomPrompt="1"/>
          </p:nvPr>
        </p:nvSpPr>
        <p:spPr>
          <a:xfrm>
            <a:off x="5990888" y="2179636"/>
            <a:ext cx="4754880" cy="822960"/>
          </a:xfrm>
        </p:spPr>
        <p:txBody>
          <a:bodyPr lIns="137160" rIns="137160" anchor="ctr">
            <a:normAutofit/>
          </a:bodyPr>
          <a:lstStyle>
            <a:lvl1pPr marL="0" indent="0">
              <a:spcBef>
                <a:spcPts val="0"/>
              </a:spcBef>
              <a:spcAft>
                <a:spcPts val="0"/>
              </a:spcAft>
              <a:buNone/>
              <a:defRPr lang="en-US" sz="2300" b="0" kern="1200" cap="none" baseline="0" dirty="0">
                <a:solidFill>
                  <a:schemeClr val="accent2">
                    <a:lumMod val="75000"/>
                  </a:schemeClr>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fr-FR"/>
              <a:t>Cliquez pour modifier les styles du texte du masque</a:t>
            </a:r>
          </a:p>
        </p:txBody>
      </p:sp>
      <p:sp>
        <p:nvSpPr>
          <p:cNvPr id="6" name="Content Placeholder 5"/>
          <p:cNvSpPr>
            <a:spLocks noGrp="1"/>
          </p:cNvSpPr>
          <p:nvPr>
            <p:ph sz="quarter" idx="4" hasCustomPrompt="1"/>
          </p:nvPr>
        </p:nvSpPr>
        <p:spPr>
          <a:xfrm>
            <a:off x="5990888" y="2967788"/>
            <a:ext cx="4754880" cy="3341572"/>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fld id="{67F45AC6-C491-4585-A584-9CE2AF7D5500}" type="datetime1">
              <a:rPr lang="en-US" smtClean="0"/>
              <a:t>4/14/2026</a:t>
            </a:fld>
            <a:endParaRPr lang="en-US"/>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CC057153-B650-4DEB-B370-79DDCFDCE934}" type="slidenum">
              <a:rPr lang="en-US" smtClean="0"/>
              <a:t>‹N°›</a:t>
            </a:fld>
            <a:endParaRPr lang="en-US"/>
          </a:p>
        </p:txBody>
      </p:sp>
    </p:spTree>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Date Placeholder 2"/>
          <p:cNvSpPr>
            <a:spLocks noGrp="1"/>
          </p:cNvSpPr>
          <p:nvPr>
            <p:ph type="dt" sz="half" idx="10"/>
          </p:nvPr>
        </p:nvSpPr>
        <p:spPr/>
        <p:txBody>
          <a:bodyPr/>
          <a:lstStyle/>
          <a:p>
            <a:fld id="{67F45AC6-C491-4585-A584-9CE2AF7D5500}" type="datetime1">
              <a:rPr lang="en-US" smtClean="0"/>
              <a:t>4/14/2026</a:t>
            </a:fld>
            <a:endParaRPr lang="en-US"/>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CC057153-B650-4DEB-B370-79DDCFDCE934}" type="slidenum">
              <a:rPr lang="en-US" smtClean="0"/>
              <a:t>‹N°›</a:t>
            </a:fld>
            <a:endParaRPr lang="en-US"/>
          </a:p>
        </p:txBody>
      </p:sp>
    </p:spTree>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F45AC6-C491-4585-A584-9CE2AF7D5500}" type="datetime1">
              <a:rPr lang="en-US" smtClean="0"/>
              <a:t>4/14/2026</a:t>
            </a:fld>
            <a:endParaRPr lang="en-US"/>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CC057153-B650-4DEB-B370-79DDCFDCE934}" type="slidenum">
              <a:rPr lang="en-US" smtClean="0"/>
              <a:t>‹N°›</a:t>
            </a:fld>
            <a:endParaRPr lang="en-US"/>
          </a:p>
        </p:txBody>
      </p:sp>
    </p:spTree>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8" name="Title 7"/>
          <p:cNvSpPr>
            <a:spLocks noGrp="1"/>
          </p:cNvSpPr>
          <p:nvPr>
            <p:ph type="title"/>
          </p:nvPr>
        </p:nvSpPr>
        <p:spPr>
          <a:xfrm>
            <a:off x="1024128" y="471509"/>
            <a:ext cx="4389120" cy="1737360"/>
          </a:xfrm>
        </p:spPr>
        <p:txBody>
          <a:bodyPr>
            <a:noAutofit/>
          </a:bodyPr>
          <a:lstStyle>
            <a:lvl1pPr>
              <a:lnSpc>
                <a:spcPct val="80000"/>
              </a:lnSpc>
              <a:defRPr sz="4000"/>
            </a:lvl1pPr>
          </a:lstStyle>
          <a:p>
            <a:r>
              <a:rPr lang="fr-FR"/>
              <a:t>Modifiez le style du titre</a:t>
            </a:r>
            <a:endParaRPr lang="en-US" dirty="0"/>
          </a:p>
        </p:txBody>
      </p:sp>
      <p:sp>
        <p:nvSpPr>
          <p:cNvPr id="3" name="Content Placeholder 2"/>
          <p:cNvSpPr>
            <a:spLocks noGrp="1"/>
          </p:cNvSpPr>
          <p:nvPr>
            <p:ph idx="1" hasCustomPrompt="1"/>
          </p:nvPr>
        </p:nvSpPr>
        <p:spPr>
          <a:xfrm>
            <a:off x="5715000" y="822960"/>
            <a:ext cx="5678424" cy="5184648"/>
          </a:xfrm>
        </p:spPr>
        <p:txBody>
          <a:bodyPr/>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hasCustomPrompt="1"/>
          </p:nvPr>
        </p:nvSpPr>
        <p:spPr>
          <a:xfrm>
            <a:off x="1024128" y="2257506"/>
            <a:ext cx="4389120" cy="3762294"/>
          </a:xfrm>
        </p:spPr>
        <p:txBody>
          <a:bodyPr lIns="91440" rIns="9144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67F45AC6-C491-4585-A584-9CE2AF7D5500}" type="datetime1">
              <a:rPr lang="en-US" smtClean="0"/>
              <a:t>4/14/2026</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C057153-B650-4DEB-B370-79DDCFDCE934}" type="slidenum">
              <a:rPr lang="en-US" smtClean="0"/>
              <a:t>‹N°›</a:t>
            </a:fld>
            <a:endParaRPr lang="en-US"/>
          </a:p>
        </p:txBody>
      </p:sp>
    </p:spTree>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457200" y="4960138"/>
            <a:ext cx="7772400" cy="1463040"/>
          </a:xfrm>
        </p:spPr>
        <p:txBody>
          <a:bodyPr anchor="ctr">
            <a:normAutofit/>
          </a:bodyPr>
          <a:lstStyle>
            <a:lvl1pPr algn="r">
              <a:defRPr sz="5000" spc="200" baseline="0"/>
            </a:lvl1pPr>
          </a:lstStyle>
          <a:p>
            <a:r>
              <a:rPr lang="fr-FR"/>
              <a:t>Modifiez le style du titre</a:t>
            </a:r>
            <a:endParaRPr lang="en-US" dirty="0"/>
          </a:p>
        </p:txBody>
      </p:sp>
      <p:sp>
        <p:nvSpPr>
          <p:cNvPr id="3" name="Picture Placeholder 2"/>
          <p:cNvSpPr>
            <a:spLocks noGrp="1" noChangeAspect="1"/>
          </p:cNvSpPr>
          <p:nvPr>
            <p:ph type="pic" idx="1"/>
          </p:nvPr>
        </p:nvSpPr>
        <p:spPr>
          <a:xfrm>
            <a:off x="0" y="-1"/>
            <a:ext cx="12188952" cy="4572000"/>
          </a:xfrm>
          <a:solidFill>
            <a:schemeClr val="accent2">
              <a:lumMod val="60000"/>
              <a:lumOff val="40000"/>
            </a:schemeClr>
          </a:solidFill>
        </p:spPr>
        <p:txBody>
          <a:bodyPr lIns="457200" tIns="365760" rIns="45720" bIns="4572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hasCustomPrompt="1"/>
          </p:nvPr>
        </p:nvSpPr>
        <p:spPr>
          <a:xfrm>
            <a:off x="8610600" y="4960138"/>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67F45AC6-C491-4585-A584-9CE2AF7D5500}" type="datetime1">
              <a:rPr lang="en-US" smtClean="0"/>
              <a:t>4/14/2026</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C057153-B650-4DEB-B370-79DDCFDCE934}" type="slidenum">
              <a:rPr lang="en-US" smtClean="0"/>
              <a:t>‹N°›</a:t>
            </a:fld>
            <a:endParaRPr lang="en-US"/>
          </a:p>
        </p:txBody>
      </p:sp>
      <p:cxnSp>
        <p:nvCxnSpPr>
          <p:cNvPr id="8" name="Straight Connector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hasCustomPrompt="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67F45AC6-C491-4585-A584-9CE2AF7D5500}" type="datetime1">
              <a:rPr lang="en-US" smtClean="0"/>
              <a:t>4/14/2026</a:t>
            </a:fld>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t>‹N°›</a:t>
            </a:fld>
            <a:endParaRPr lang="en-US"/>
          </a:p>
        </p:txBody>
      </p:sp>
    </p:spTree>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762000"/>
            <a:ext cx="2628900" cy="5410200"/>
          </a:xfrm>
        </p:spPr>
        <p:txBody>
          <a:bodyPr vert="eaVert" lIns="45720" tIns="91440" rIns="45720" bIns="91440"/>
          <a:lstStyle/>
          <a:p>
            <a:r>
              <a:rPr lang="fr-FR"/>
              <a:t>Modifiez le style du titre</a:t>
            </a:r>
            <a:endParaRPr lang="en-US" dirty="0"/>
          </a:p>
        </p:txBody>
      </p:sp>
      <p:sp>
        <p:nvSpPr>
          <p:cNvPr id="3" name="Vertical Text Placeholder 2"/>
          <p:cNvSpPr>
            <a:spLocks noGrp="1"/>
          </p:cNvSpPr>
          <p:nvPr>
            <p:ph type="body" orient="vert" idx="1" hasCustomPrompt="1"/>
          </p:nvPr>
        </p:nvSpPr>
        <p:spPr>
          <a:xfrm>
            <a:off x="990601" y="762000"/>
            <a:ext cx="7581900" cy="5410200"/>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67F45AC6-C491-4585-A584-9CE2AF7D5500}" type="datetime1">
              <a:rPr lang="en-US" smtClean="0"/>
              <a:t>4/14/2026</a:t>
            </a:fld>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t>‹N°›</a:t>
            </a:fld>
            <a:endParaRPr lang="en-US"/>
          </a:p>
        </p:txBody>
      </p:sp>
      <p:cxnSp>
        <p:nvCxnSpPr>
          <p:cNvPr id="8" name="Straight Connector 7"/>
          <p:cNvCxnSpPr/>
          <p:nvPr/>
        </p:nvCxnSpPr>
        <p:spPr>
          <a:xfrm rot="5400000" flipV="1">
            <a:off x="10058400" y="59263"/>
            <a:ext cx="0" cy="914400"/>
          </a:xfrm>
          <a:prstGeom prst="line">
            <a:avLst/>
          </a:prstGeom>
          <a:ln w="19050">
            <a:solidFill>
              <a:schemeClr val="accent2"/>
            </a:solidFill>
          </a:ln>
        </p:spPr>
        <p:style>
          <a:lnRef idx="1">
            <a:schemeClr val="accent1"/>
          </a:lnRef>
          <a:fillRef idx="0">
            <a:schemeClr val="accent1"/>
          </a:fillRef>
          <a:effectRef idx="0">
            <a:schemeClr val="accent1"/>
          </a:effectRef>
          <a:fontRef idx="minor">
            <a:schemeClr val="tx1"/>
          </a:fontRef>
        </p:style>
      </p:cxnSp>
    </p:spTree>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24128" y="585216"/>
            <a:ext cx="9720072" cy="1499616"/>
          </a:xfrm>
          <a:prstGeom prst="rect">
            <a:avLst/>
          </a:prstGeom>
        </p:spPr>
        <p:txBody>
          <a:bodyPr vert="horz" lIns="91440" tIns="45720" rIns="91440" bIns="45720" rtlCol="0" anchor="ctr">
            <a:normAutofit/>
          </a:bodyPr>
          <a:lstStyle/>
          <a:p>
            <a:r>
              <a:rPr lang="fr-FR"/>
              <a:t>Modifiez le style du titre</a:t>
            </a:r>
            <a:endParaRPr lang="en-US" dirty="0"/>
          </a:p>
        </p:txBody>
      </p:sp>
      <p:sp>
        <p:nvSpPr>
          <p:cNvPr id="3" name="Text Placeholder 2"/>
          <p:cNvSpPr>
            <a:spLocks noGrp="1"/>
          </p:cNvSpPr>
          <p:nvPr>
            <p:ph type="body" idx="1"/>
          </p:nvPr>
        </p:nvSpPr>
        <p:spPr>
          <a:xfrm>
            <a:off x="1024128" y="2286000"/>
            <a:ext cx="9720073" cy="4023360"/>
          </a:xfrm>
          <a:prstGeom prst="rect">
            <a:avLst/>
          </a:prstGeom>
        </p:spPr>
        <p:txBody>
          <a:bodyPr vert="horz" lIns="45720" tIns="45720" rIns="4572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67F45AC6-C491-4585-A584-9CE2AF7D5500}" type="datetime1">
              <a:rPr lang="en-US" smtClean="0"/>
              <a:t>4/14/2026</a:t>
            </a:fld>
            <a:endParaRPr lang="en-US"/>
          </a:p>
        </p:txBody>
      </p:sp>
      <p:sp>
        <p:nvSpPr>
          <p:cNvPr id="5" name="Footer Placeholder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mj-lt"/>
              </a:defRPr>
            </a:lvl1pPr>
          </a:lstStyle>
          <a:p>
            <a:endParaRPr lang="en-US" dirty="0"/>
          </a:p>
        </p:txBody>
      </p:sp>
      <p:sp>
        <p:nvSpPr>
          <p:cNvPr id="6" name="Slide Number Placeholder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CC057153-B650-4DEB-B370-79DDCFDCE934}" type="slidenum">
              <a:rPr lang="en-US" smtClean="0"/>
              <a:t>‹N°›</a:t>
            </a:fld>
            <a:endParaRPr lang="en-US"/>
          </a:p>
        </p:txBody>
      </p:sp>
      <p:cxnSp>
        <p:nvCxnSpPr>
          <p:cNvPr id="8" name="Straight Connector 7"/>
          <p:cNvCxnSpPr/>
          <p:nvPr/>
        </p:nvCxnSpPr>
        <p:spPr>
          <a:xfrm flipV="1">
            <a:off x="762000" y="826324"/>
            <a:ext cx="0" cy="914400"/>
          </a:xfrm>
          <a:prstGeom prst="line">
            <a:avLst/>
          </a:prstGeom>
          <a:ln w="19050">
            <a:solidFill>
              <a:schemeClr val="accent2"/>
            </a:solidFill>
          </a:ln>
        </p:spPr>
        <p:style>
          <a:lnRef idx="1">
            <a:schemeClr val="accent1"/>
          </a:lnRef>
          <a:fillRef idx="0">
            <a:schemeClr val="accent1"/>
          </a:fillRef>
          <a:effectRef idx="0">
            <a:schemeClr val="accent1"/>
          </a:effectRef>
          <a:fontRef idx="minor">
            <a:schemeClr val="tx1"/>
          </a:fontRef>
        </p:style>
      </p:cxn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l" defTabSz="914400" rtl="0" eaLnBrk="1" latinLnBrk="0" hangingPunct="1">
        <a:lnSpc>
          <a:spcPct val="80000"/>
        </a:lnSpc>
        <a:spcBef>
          <a:spcPct val="0"/>
        </a:spcBef>
        <a:buNone/>
        <a:defRPr sz="5000" kern="1200" cap="all" spc="100" baseline="0">
          <a:solidFill>
            <a:schemeClr val="tx1">
              <a:lumMod val="95000"/>
              <a:lumOff val="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2"/>
        </a:buClr>
        <a:buSzPct val="100000"/>
        <a:buFont typeface="Tw Cen MT" panose="020B0602020104020603" pitchFamily="34" charset="0"/>
        <a:buChar char=" "/>
        <a:defRPr sz="2200" kern="1200">
          <a:solidFill>
            <a:schemeClr val="tx1"/>
          </a:solidFill>
          <a:latin typeface="+mn-lt"/>
          <a:ea typeface="+mn-ea"/>
          <a:cs typeface="+mn-cs"/>
        </a:defRPr>
      </a:lvl1pPr>
      <a:lvl2pPr marL="265430" indent="-137160" algn="l" defTabSz="914400" rtl="0" eaLnBrk="1" latinLnBrk="0" hangingPunct="1">
        <a:lnSpc>
          <a:spcPct val="90000"/>
        </a:lnSpc>
        <a:spcBef>
          <a:spcPts val="200"/>
        </a:spcBef>
        <a:spcAft>
          <a:spcPts val="400"/>
        </a:spcAft>
        <a:buClr>
          <a:schemeClr val="accent2"/>
        </a:buClr>
        <a:buFont typeface="Wingdings 3" panose="05040102010807070707" pitchFamily="18" charset="2"/>
        <a:buChar char=""/>
        <a:defRPr sz="1800" kern="1200">
          <a:solidFill>
            <a:schemeClr val="tx1"/>
          </a:solidFill>
          <a:latin typeface="+mn-lt"/>
          <a:ea typeface="+mn-ea"/>
          <a:cs typeface="+mn-cs"/>
        </a:defRPr>
      </a:lvl2pPr>
      <a:lvl3pPr marL="448310" indent="-137160" algn="l" defTabSz="914400" rtl="0" eaLnBrk="1" latinLnBrk="0" hangingPunct="1">
        <a:lnSpc>
          <a:spcPct val="90000"/>
        </a:lnSpc>
        <a:spcBef>
          <a:spcPts val="200"/>
        </a:spcBef>
        <a:spcAft>
          <a:spcPts val="400"/>
        </a:spcAft>
        <a:buClr>
          <a:schemeClr val="accent2"/>
        </a:buClr>
        <a:buFont typeface="Wingdings 3" panose="05040102010807070707"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2"/>
        </a:buClr>
        <a:buFont typeface="Wingdings 3" panose="05040102010807070707"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2"/>
        </a:buClr>
        <a:buFont typeface="Wingdings 3" panose="05040102010807070707"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2"/>
        </a:buClr>
        <a:buFont typeface="Wingdings 3" panose="05040102010807070707" pitchFamily="18" charset="2"/>
        <a:buChar char=""/>
        <a:defRPr sz="1400" kern="1200">
          <a:solidFill>
            <a:schemeClr val="tx1"/>
          </a:solidFill>
          <a:latin typeface="+mn-lt"/>
          <a:ea typeface="+mn-ea"/>
          <a:cs typeface="+mn-cs"/>
        </a:defRPr>
      </a:lvl6pPr>
      <a:lvl7pPr marL="1060450" indent="-137160" algn="l" defTabSz="914400" rtl="0" eaLnBrk="1" latinLnBrk="0" hangingPunct="1">
        <a:lnSpc>
          <a:spcPct val="90000"/>
        </a:lnSpc>
        <a:spcBef>
          <a:spcPts val="200"/>
        </a:spcBef>
        <a:spcAft>
          <a:spcPts val="400"/>
        </a:spcAft>
        <a:buClr>
          <a:schemeClr val="accent2"/>
        </a:buClr>
        <a:buFont typeface="Wingdings 3" panose="05040102010807070707" pitchFamily="18" charset="2"/>
        <a:buChar char=""/>
        <a:defRPr sz="1400" kern="1200">
          <a:solidFill>
            <a:schemeClr val="tx1"/>
          </a:solidFill>
          <a:latin typeface="+mn-lt"/>
          <a:ea typeface="+mn-ea"/>
          <a:cs typeface="+mn-cs"/>
        </a:defRPr>
      </a:lvl7pPr>
      <a:lvl8pPr marL="1216025" indent="-137160" algn="l" defTabSz="914400" rtl="0" eaLnBrk="1" latinLnBrk="0" hangingPunct="1">
        <a:lnSpc>
          <a:spcPct val="90000"/>
        </a:lnSpc>
        <a:spcBef>
          <a:spcPts val="200"/>
        </a:spcBef>
        <a:spcAft>
          <a:spcPts val="400"/>
        </a:spcAft>
        <a:buClr>
          <a:schemeClr val="accent2"/>
        </a:buClr>
        <a:buFont typeface="Wingdings 3" panose="05040102010807070707" pitchFamily="18" charset="2"/>
        <a:buChar char=""/>
        <a:defRPr sz="1400" kern="1200">
          <a:solidFill>
            <a:schemeClr val="tx1"/>
          </a:solidFill>
          <a:latin typeface="+mn-lt"/>
          <a:ea typeface="+mn-ea"/>
          <a:cs typeface="+mn-cs"/>
        </a:defRPr>
      </a:lvl8pPr>
      <a:lvl9pPr marL="1362710" indent="-137160" algn="l" defTabSz="914400" rtl="0" eaLnBrk="1" latinLnBrk="0" hangingPunct="1">
        <a:lnSpc>
          <a:spcPct val="90000"/>
        </a:lnSpc>
        <a:spcBef>
          <a:spcPts val="200"/>
        </a:spcBef>
        <a:spcAft>
          <a:spcPts val="400"/>
        </a:spcAft>
        <a:buClr>
          <a:schemeClr val="accent2"/>
        </a:buClr>
        <a:buFont typeface="Wingdings 3" panose="05040102010807070707"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p:cNvPicPr>
            <a:picLocks noChangeAspect="1"/>
          </p:cNvPicPr>
          <p:nvPr/>
        </p:nvPicPr>
        <p:blipFill>
          <a:blip r:embed="rId2"/>
          <a:srcRect t="6266" b="3373"/>
          <a:stretch>
            <a:fillRect/>
          </a:stretch>
        </p:blipFill>
        <p:spPr>
          <a:xfrm>
            <a:off x="20" y="10"/>
            <a:ext cx="12191980" cy="6857990"/>
          </a:xfrm>
          <a:prstGeom prst="rect">
            <a:avLst/>
          </a:prstGeom>
        </p:spPr>
      </p:pic>
      <p:sp>
        <p:nvSpPr>
          <p:cNvPr id="2" name="Titre 1"/>
          <p:cNvSpPr>
            <a:spLocks noGrp="1"/>
          </p:cNvSpPr>
          <p:nvPr>
            <p:ph type="ctrTitle"/>
          </p:nvPr>
        </p:nvSpPr>
        <p:spPr>
          <a:xfrm>
            <a:off x="7473219" y="898373"/>
            <a:ext cx="4470544" cy="3474720"/>
          </a:xfrm>
        </p:spPr>
        <p:txBody>
          <a:bodyPr anchor="b">
            <a:normAutofit/>
          </a:bodyPr>
          <a:lstStyle/>
          <a:p>
            <a:pPr algn="l"/>
            <a:r>
              <a:rPr lang="fr-FR" sz="4100"/>
              <a:t>Projet Data Analytics – Telco Customer Churn </a:t>
            </a:r>
            <a:br>
              <a:rPr lang="fr-FR" sz="4100"/>
            </a:br>
            <a:endParaRPr lang="fr-FR" sz="4100"/>
          </a:p>
        </p:txBody>
      </p:sp>
      <p:sp>
        <p:nvSpPr>
          <p:cNvPr id="3" name="Sous-titre 2"/>
          <p:cNvSpPr>
            <a:spLocks noGrp="1"/>
          </p:cNvSpPr>
          <p:nvPr>
            <p:ph type="subTitle" idx="1"/>
          </p:nvPr>
        </p:nvSpPr>
        <p:spPr>
          <a:xfrm>
            <a:off x="7482646" y="4495013"/>
            <a:ext cx="4116410" cy="1386840"/>
          </a:xfrm>
        </p:spPr>
        <p:txBody>
          <a:bodyPr anchor="t">
            <a:normAutofit/>
          </a:bodyPr>
          <a:lstStyle/>
          <a:p>
            <a:pPr algn="l"/>
            <a:r>
              <a:rPr lang="fr-FR" sz="2200" b="1" dirty="0"/>
              <a:t>Présenté par : Hamed </a:t>
            </a:r>
            <a:r>
              <a:rPr lang="fr-FR" sz="2200" b="1" dirty="0" err="1"/>
              <a:t>Tlili</a:t>
            </a:r>
            <a:endParaRPr lang="fr-FR" sz="2200" b="1" dirty="0"/>
          </a:p>
          <a:p>
            <a:pPr algn="l"/>
            <a:endParaRPr lang="fr-FR" sz="2200" dirty="0"/>
          </a:p>
        </p:txBody>
      </p:sp>
      <p:sp>
        <p:nvSpPr>
          <p:cNvPr id="12" name="ZoneTexte 11"/>
          <p:cNvSpPr txBox="1"/>
          <p:nvPr/>
        </p:nvSpPr>
        <p:spPr>
          <a:xfrm>
            <a:off x="2995162" y="3503587"/>
            <a:ext cx="6201696" cy="3139321"/>
          </a:xfrm>
          <a:prstGeom prst="rect">
            <a:avLst/>
          </a:prstGeom>
          <a:noFill/>
        </p:spPr>
        <p:txBody>
          <a:bodyPr wrap="square">
            <a:spAutoFit/>
          </a:bodyPr>
          <a:lstStyle/>
          <a:p>
            <a:endParaRPr lang="fr-FR" dirty="0"/>
          </a:p>
          <a:p>
            <a:endParaRPr lang="fr-FR" dirty="0"/>
          </a:p>
          <a:p>
            <a:endParaRPr lang="fr-FR" dirty="0"/>
          </a:p>
          <a:p>
            <a:endParaRPr lang="fr-FR" dirty="0"/>
          </a:p>
          <a:p>
            <a:endParaRPr lang="fr-FR" dirty="0"/>
          </a:p>
          <a:p>
            <a:endParaRPr lang="fr-FR" dirty="0"/>
          </a:p>
          <a:p>
            <a:endParaRPr lang="fr-FR" dirty="0"/>
          </a:p>
          <a:p>
            <a:endParaRPr lang="fr-FR" dirty="0"/>
          </a:p>
          <a:p>
            <a:r>
              <a:rPr lang="fr-FR" dirty="0"/>
              <a:t>           </a:t>
            </a:r>
          </a:p>
          <a:p>
            <a:endParaRPr lang="fr-FR" dirty="0"/>
          </a:p>
          <a:p>
            <a:r>
              <a:rPr lang="fr-FR" b="1" dirty="0"/>
              <a:t>            </a:t>
            </a:r>
            <a:r>
              <a:rPr lang="fr-FR" b="1" dirty="0">
                <a:solidFill>
                  <a:srgbClr val="92D050"/>
                </a:solidFill>
              </a:rPr>
              <a:t>Analyse Complète du </a:t>
            </a:r>
            <a:r>
              <a:rPr lang="fr-FR" b="1" dirty="0" err="1">
                <a:solidFill>
                  <a:srgbClr val="92D050"/>
                </a:solidFill>
              </a:rPr>
              <a:t>Churn</a:t>
            </a:r>
            <a:r>
              <a:rPr lang="fr-FR" b="1" dirty="0">
                <a:solidFill>
                  <a:srgbClr val="92D050"/>
                </a:solidFill>
              </a:rPr>
              <a:t> Client</a:t>
            </a:r>
          </a:p>
        </p:txBody>
      </p:sp>
    </p:spTree>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re 1"/>
          <p:cNvSpPr>
            <a:spLocks noGrp="1"/>
          </p:cNvSpPr>
          <p:nvPr>
            <p:ph type="title"/>
          </p:nvPr>
        </p:nvSpPr>
        <p:spPr>
          <a:xfrm>
            <a:off x="1024128" y="585216"/>
            <a:ext cx="8018272" cy="1499616"/>
          </a:xfrm>
        </p:spPr>
        <p:txBody>
          <a:bodyPr>
            <a:normAutofit/>
          </a:bodyPr>
          <a:lstStyle/>
          <a:p>
            <a:r>
              <a:rPr lang="fr-FR" sz="3500" b="1"/>
              <a:t>Introduction</a:t>
            </a:r>
            <a:r>
              <a:rPr lang="fr-FR" sz="3500"/>
              <a:t/>
            </a:r>
            <a:br>
              <a:rPr lang="fr-FR" sz="3500"/>
            </a:br>
            <a:endParaRPr lang="fr-FR" sz="3500"/>
          </a:p>
        </p:txBody>
      </p:sp>
      <p:sp>
        <p:nvSpPr>
          <p:cNvPr id="3" name="Espace réservé du contenu 2"/>
          <p:cNvSpPr>
            <a:spLocks noGrp="1"/>
          </p:cNvSpPr>
          <p:nvPr>
            <p:ph idx="1"/>
          </p:nvPr>
        </p:nvSpPr>
        <p:spPr>
          <a:xfrm>
            <a:off x="1024128" y="2286000"/>
            <a:ext cx="8018271" cy="4023360"/>
          </a:xfrm>
        </p:spPr>
        <p:txBody>
          <a:bodyPr>
            <a:normAutofit/>
          </a:bodyPr>
          <a:lstStyle/>
          <a:p>
            <a:r>
              <a:rPr lang="fr-FR" b="1"/>
              <a:t>Le churn représente les clients qui quittent un service. Ce phénomène constitue un enjeu majeur pour les entreprises, car il impacte directement leurs revenus et leur croissance. Dans ce projet, nous analysons les causes du churn afin de proposer des solutions efficaces.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re 1"/>
          <p:cNvSpPr>
            <a:spLocks noGrp="1"/>
          </p:cNvSpPr>
          <p:nvPr>
            <p:ph type="title"/>
          </p:nvPr>
        </p:nvSpPr>
        <p:spPr>
          <a:xfrm>
            <a:off x="1024128" y="585216"/>
            <a:ext cx="6066818" cy="1499616"/>
          </a:xfrm>
        </p:spPr>
        <p:txBody>
          <a:bodyPr>
            <a:normAutofit/>
          </a:bodyPr>
          <a:lstStyle/>
          <a:p>
            <a:r>
              <a:rPr lang="fr-FR" dirty="0"/>
              <a:t>Objectif du Projet</a:t>
            </a:r>
          </a:p>
        </p:txBody>
      </p:sp>
      <p:cxnSp>
        <p:nvCxnSpPr>
          <p:cNvPr id="9" name="Straight Connector 8"/>
          <p:cNvCxnSpPr>
            <a:cxnSpLocks noGrp="1" noRot="1" noChangeAspect="1" noMove="1" noResize="1" noEditPoints="1" noAdjustHandles="1" noChangeArrowheads="1" noChangeShapeType="1"/>
          </p:cNvCxnSpPr>
          <p:nvPr/>
        </p:nvCxnSpPr>
        <p:spPr>
          <a:xfrm flipV="1">
            <a:off x="762000" y="826324"/>
            <a:ext cx="0" cy="914400"/>
          </a:xfrm>
          <a:prstGeom prst="line">
            <a:avLst/>
          </a:prstGeom>
          <a:ln w="19050">
            <a:solidFill>
              <a:srgbClr val="5BA3F4"/>
            </a:solidFill>
          </a:ln>
        </p:spPr>
        <p:style>
          <a:lnRef idx="1">
            <a:schemeClr val="accent1"/>
          </a:lnRef>
          <a:fillRef idx="0">
            <a:schemeClr val="accent1"/>
          </a:fillRef>
          <a:effectRef idx="0">
            <a:schemeClr val="accent1"/>
          </a:effectRef>
          <a:fontRef idx="minor">
            <a:schemeClr val="tx1"/>
          </a:fontRef>
        </p:style>
      </p:cxnSp>
      <p:sp>
        <p:nvSpPr>
          <p:cNvPr id="3" name="Espace réservé du contenu 2"/>
          <p:cNvSpPr>
            <a:spLocks noGrp="1"/>
          </p:cNvSpPr>
          <p:nvPr>
            <p:ph idx="1"/>
          </p:nvPr>
        </p:nvSpPr>
        <p:spPr>
          <a:xfrm>
            <a:off x="1024128" y="2286000"/>
            <a:ext cx="6066818" cy="4023360"/>
          </a:xfrm>
        </p:spPr>
        <p:txBody>
          <a:bodyPr>
            <a:normAutofit/>
          </a:bodyPr>
          <a:lstStyle/>
          <a:p>
            <a:r>
              <a:rPr lang="fr-FR" b="1" dirty="0"/>
              <a:t>L’objectif principal est d’analyser les données clients pour identifier les facteurs qui influencent le </a:t>
            </a:r>
            <a:r>
              <a:rPr lang="fr-FR" b="1" dirty="0" err="1"/>
              <a:t>churn</a:t>
            </a:r>
            <a:r>
              <a:rPr lang="fr-FR" b="1" dirty="0"/>
              <a:t>. Cette analyse permet à l’entreprise de prendre des décisions stratégiques basées sur les données.</a:t>
            </a:r>
          </a:p>
        </p:txBody>
      </p:sp>
      <p:pic>
        <p:nvPicPr>
          <p:cNvPr id="6" name="Picture 4" descr="Loupe montrant des performances en baisse"/>
          <p:cNvPicPr>
            <a:picLocks noChangeAspect="1"/>
          </p:cNvPicPr>
          <p:nvPr/>
        </p:nvPicPr>
        <p:blipFill>
          <a:blip r:embed="rId2"/>
          <a:srcRect l="12138" r="42702" b="-1"/>
          <a:stretch>
            <a:fillRect/>
          </a:stretch>
        </p:blipFill>
        <p:spPr>
          <a:xfrm>
            <a:off x="7552266" y="10"/>
            <a:ext cx="4639733" cy="685799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p:cNvSpPr>
            <a:spLocks noGrp="1" noRot="1" noChangeAspect="1" noMove="1" noResize="1" noEditPoints="1" noAdjustHandles="1" noChangeArrowheads="1" noChangeShapeType="1" noTextEdit="1"/>
          </p:cNvSpPr>
          <p:nvPr/>
        </p:nvSpPr>
        <p:spPr>
          <a:xfrm>
            <a:off x="1524" y="0"/>
            <a:ext cx="12188952" cy="68580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Chiffres du marché boursier"/>
          <p:cNvPicPr>
            <a:picLocks noChangeAspect="1"/>
          </p:cNvPicPr>
          <p:nvPr/>
        </p:nvPicPr>
        <p:blipFill>
          <a:blip r:embed="rId2">
            <a:alphaModFix amt="40000"/>
          </a:blip>
          <a:srcRect t="6972" b="8758"/>
          <a:stretch>
            <a:fillRect/>
          </a:stretch>
        </p:blipFill>
        <p:spPr>
          <a:xfrm>
            <a:off x="20" y="10"/>
            <a:ext cx="12191980" cy="6857990"/>
          </a:xfrm>
          <a:prstGeom prst="rect">
            <a:avLst/>
          </a:prstGeom>
        </p:spPr>
      </p:pic>
      <p:sp>
        <p:nvSpPr>
          <p:cNvPr id="2" name="Titre 1"/>
          <p:cNvSpPr>
            <a:spLocks noGrp="1"/>
          </p:cNvSpPr>
          <p:nvPr>
            <p:ph type="title"/>
          </p:nvPr>
        </p:nvSpPr>
        <p:spPr>
          <a:xfrm>
            <a:off x="1024128" y="585216"/>
            <a:ext cx="9720072" cy="1499616"/>
          </a:xfrm>
        </p:spPr>
        <p:txBody>
          <a:bodyPr>
            <a:normAutofit/>
          </a:bodyPr>
          <a:lstStyle/>
          <a:p>
            <a:r>
              <a:rPr lang="fr-FR">
                <a:solidFill>
                  <a:srgbClr val="FFFFFF"/>
                </a:solidFill>
              </a:rPr>
              <a:t>Description du Dataset</a:t>
            </a:r>
          </a:p>
        </p:txBody>
      </p:sp>
      <p:cxnSp>
        <p:nvCxnSpPr>
          <p:cNvPr id="11" name="Straight Connector 10"/>
          <p:cNvCxnSpPr>
            <a:cxnSpLocks noGrp="1" noRot="1" noChangeAspect="1" noMove="1" noResize="1" noEditPoints="1" noAdjustHandles="1" noChangeArrowheads="1" noChangeShapeType="1"/>
          </p:cNvCxnSpPr>
          <p:nvPr/>
        </p:nvCxnSpPr>
        <p:spPr>
          <a:xfrm flipV="1">
            <a:off x="762000" y="826324"/>
            <a:ext cx="0" cy="914400"/>
          </a:xfrm>
          <a:prstGeom prst="line">
            <a:avLst/>
          </a:prstGeom>
          <a:ln w="19050">
            <a:solidFill>
              <a:srgbClr val="E8E97C"/>
            </a:solidFill>
          </a:ln>
        </p:spPr>
        <p:style>
          <a:lnRef idx="1">
            <a:schemeClr val="accent1"/>
          </a:lnRef>
          <a:fillRef idx="0">
            <a:schemeClr val="accent1"/>
          </a:fillRef>
          <a:effectRef idx="0">
            <a:schemeClr val="accent1"/>
          </a:effectRef>
          <a:fontRef idx="minor">
            <a:schemeClr val="tx1"/>
          </a:fontRef>
        </p:style>
      </p:cxnSp>
      <p:sp>
        <p:nvSpPr>
          <p:cNvPr id="3" name="Espace réservé du contenu 2"/>
          <p:cNvSpPr>
            <a:spLocks noGrp="1"/>
          </p:cNvSpPr>
          <p:nvPr>
            <p:ph idx="1"/>
          </p:nvPr>
        </p:nvSpPr>
        <p:spPr>
          <a:xfrm>
            <a:off x="1024128" y="2286000"/>
            <a:ext cx="9720073" cy="4023360"/>
          </a:xfrm>
        </p:spPr>
        <p:txBody>
          <a:bodyPr>
            <a:normAutofit/>
          </a:bodyPr>
          <a:lstStyle/>
          <a:p>
            <a:r>
              <a:rPr lang="fr-FR" b="1" dirty="0"/>
              <a:t>Le </a:t>
            </a:r>
            <a:r>
              <a:rPr lang="fr-FR" b="1" dirty="0" err="1"/>
              <a:t>dataset</a:t>
            </a:r>
            <a:r>
              <a:rPr lang="fr-FR" b="1" dirty="0"/>
              <a:t> utilisé est “</a:t>
            </a:r>
            <a:r>
              <a:rPr lang="fr-FR" b="1" dirty="0" err="1"/>
              <a:t>Telco</a:t>
            </a:r>
            <a:r>
              <a:rPr lang="fr-FR" b="1" dirty="0"/>
              <a:t> Customer </a:t>
            </a:r>
            <a:r>
              <a:rPr lang="fr-FR" b="1" dirty="0" err="1"/>
              <a:t>Churn</a:t>
            </a:r>
            <a:r>
              <a:rPr lang="fr-FR" b="1" dirty="0"/>
              <a:t>”. Il contient plus de 7000 clients avec des informations comme les charges mensuelles, la durée d’abonnement et le type de contrat. Ces données permettent d’étudier le comportement des clients.</a:t>
            </a:r>
          </a:p>
        </p:txBody>
      </p:sp>
      <p:pic>
        <p:nvPicPr>
          <p:cNvPr id="6" name="Image 5"/>
          <p:cNvPicPr>
            <a:picLocks noChangeAspect="1"/>
          </p:cNvPicPr>
          <p:nvPr/>
        </p:nvPicPr>
        <p:blipFill>
          <a:blip r:embed="rId3"/>
          <a:stretch>
            <a:fillRect/>
          </a:stretch>
        </p:blipFill>
        <p:spPr>
          <a:xfrm>
            <a:off x="1708879" y="3582649"/>
            <a:ext cx="9293901" cy="3273677"/>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smtClean="0"/>
              <a:t/>
            </a:r>
            <a:br>
              <a:rPr lang="fr-FR" dirty="0" smtClean="0"/>
            </a:br>
            <a:endParaRPr lang="fr-FR" dirty="0"/>
          </a:p>
        </p:txBody>
      </p:sp>
      <p:sp>
        <p:nvSpPr>
          <p:cNvPr id="3" name="Espace réservé du contenu 2"/>
          <p:cNvSpPr>
            <a:spLocks noGrp="1"/>
          </p:cNvSpPr>
          <p:nvPr>
            <p:ph idx="1"/>
          </p:nvPr>
        </p:nvSpPr>
        <p:spPr>
          <a:xfrm>
            <a:off x="1024128" y="585216"/>
            <a:ext cx="9720073" cy="5724144"/>
          </a:xfrm>
        </p:spPr>
        <p:txBody>
          <a:bodyPr/>
          <a:lstStyle/>
          <a:p>
            <a:r>
              <a:rPr lang="fr-FR" dirty="0"/>
              <a:t>Ps: le </a:t>
            </a:r>
            <a:r>
              <a:rPr lang="fr-FR" dirty="0" err="1"/>
              <a:t>dataset</a:t>
            </a:r>
            <a:r>
              <a:rPr lang="fr-FR" dirty="0"/>
              <a:t> est </a:t>
            </a:r>
            <a:r>
              <a:rPr lang="fr-FR" dirty="0" err="1"/>
              <a:t>telechargee</a:t>
            </a:r>
            <a:r>
              <a:rPr lang="fr-FR" dirty="0"/>
              <a:t> </a:t>
            </a:r>
            <a:r>
              <a:rPr lang="fr-FR" dirty="0" err="1"/>
              <a:t>from</a:t>
            </a:r>
            <a:r>
              <a:rPr lang="fr-FR" dirty="0"/>
              <a:t>  </a:t>
            </a:r>
            <a:r>
              <a:rPr lang="fr-FR" dirty="0" err="1"/>
              <a:t>kaggle</a:t>
            </a:r>
            <a:endParaRPr lang="fr-FR" dirty="0"/>
          </a:p>
          <a:p>
            <a:pPr lvl="0">
              <a:buClr>
                <a:srgbClr val="B2B2B2"/>
              </a:buClr>
            </a:pPr>
            <a:endParaRPr lang="fr-FR" dirty="0"/>
          </a:p>
        </p:txBody>
      </p:sp>
      <p:pic>
        <p:nvPicPr>
          <p:cNvPr id="7" name="Imag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084832"/>
            <a:ext cx="12192000" cy="47212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p:cNvSpPr>
            <a:spLocks noGrp="1" noRot="1" noChangeAspect="1" noMove="1" noResize="1" noEditPoints="1" noAdjustHandles="1" noChangeArrowheads="1" noChangeShapeType="1" noTextEdit="1"/>
          </p:cNvSpPr>
          <p:nvPr/>
        </p:nvSpPr>
        <p:spPr>
          <a:xfrm>
            <a:off x="0" y="0"/>
            <a:ext cx="6095998" cy="6858000"/>
          </a:xfrm>
          <a:prstGeom prst="rect">
            <a:avLst/>
          </a:prstGeom>
          <a:solidFill>
            <a:srgbClr val="413A4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p:cNvSpPr>
            <a:spLocks noGrp="1"/>
          </p:cNvSpPr>
          <p:nvPr>
            <p:ph type="title"/>
          </p:nvPr>
        </p:nvSpPr>
        <p:spPr>
          <a:xfrm>
            <a:off x="1024128" y="459317"/>
            <a:ext cx="4389120" cy="1749552"/>
          </a:xfrm>
        </p:spPr>
        <p:txBody>
          <a:bodyPr>
            <a:normAutofit/>
          </a:bodyPr>
          <a:lstStyle/>
          <a:p>
            <a:r>
              <a:rPr lang="fr-FR" sz="4400"/>
              <a:t>Outils Utilisés</a:t>
            </a:r>
          </a:p>
        </p:txBody>
      </p:sp>
      <p:cxnSp>
        <p:nvCxnSpPr>
          <p:cNvPr id="12" name="Straight Connector 11"/>
          <p:cNvCxnSpPr>
            <a:cxnSpLocks noGrp="1" noRot="1" noChangeAspect="1" noMove="1" noResize="1" noEditPoints="1" noAdjustHandles="1" noChangeArrowheads="1" noChangeShapeType="1"/>
          </p:cNvCxnSpPr>
          <p:nvPr/>
        </p:nvCxnSpPr>
        <p:spPr>
          <a:xfrm flipV="1">
            <a:off x="762000" y="826324"/>
            <a:ext cx="0" cy="914400"/>
          </a:xfrm>
          <a:prstGeom prst="line">
            <a:avLst/>
          </a:prstGeom>
          <a:ln w="19050">
            <a:solidFill>
              <a:srgbClr val="5B93D8"/>
            </a:solidFill>
          </a:ln>
        </p:spPr>
        <p:style>
          <a:lnRef idx="1">
            <a:schemeClr val="accent1"/>
          </a:lnRef>
          <a:fillRef idx="0">
            <a:schemeClr val="accent1"/>
          </a:fillRef>
          <a:effectRef idx="0">
            <a:schemeClr val="accent1"/>
          </a:effectRef>
          <a:fontRef idx="minor">
            <a:schemeClr val="tx1"/>
          </a:fontRef>
        </p:style>
      </p:cxnSp>
      <p:sp>
        <p:nvSpPr>
          <p:cNvPr id="3" name="Espace réservé du contenu 2"/>
          <p:cNvSpPr>
            <a:spLocks noGrp="1"/>
          </p:cNvSpPr>
          <p:nvPr>
            <p:ph idx="1"/>
          </p:nvPr>
        </p:nvSpPr>
        <p:spPr>
          <a:xfrm>
            <a:off x="1024129" y="2286000"/>
            <a:ext cx="4389120" cy="3931920"/>
          </a:xfrm>
        </p:spPr>
        <p:txBody>
          <a:bodyPr>
            <a:normAutofit fontScale="92500" lnSpcReduction="10000"/>
          </a:bodyPr>
          <a:lstStyle/>
          <a:p>
            <a:r>
              <a:rPr lang="fr-FR" sz="1800" dirty="0"/>
              <a:t>Pour réaliser ce projet, nous avons utilisé SQL Server pour gérer la base de données, SSMS pour exécuter les requêtes, Visual Studio Code pour le développement et GitHub pour le versioning du projet. </a:t>
            </a:r>
          </a:p>
          <a:p>
            <a:r>
              <a:rPr lang="fr-FR" sz="1800" dirty="0"/>
              <a:t>1 SQL</a:t>
            </a:r>
            <a:r>
              <a:rPr lang="fr-FR" sz="1800"/>
              <a:t>: </a:t>
            </a:r>
            <a:r>
              <a:rPr lang="fr-FR" sz="1800" smtClean="0"/>
              <a:t>-il </a:t>
            </a:r>
            <a:r>
              <a:rPr lang="fr-FR" sz="1800" dirty="0"/>
              <a:t>faut </a:t>
            </a:r>
            <a:r>
              <a:rPr lang="fr-FR" sz="1800" dirty="0" err="1"/>
              <a:t>conncter</a:t>
            </a:r>
            <a:r>
              <a:rPr lang="fr-FR" sz="1800" dirty="0"/>
              <a:t> sur un </a:t>
            </a:r>
            <a:r>
              <a:rPr lang="fr-FR" sz="1800" dirty="0" err="1"/>
              <a:t>sql</a:t>
            </a:r>
            <a:r>
              <a:rPr lang="fr-FR" sz="1800" dirty="0"/>
              <a:t> server et créer une base de donner et ouvrir le </a:t>
            </a:r>
            <a:r>
              <a:rPr lang="fr-FR" sz="1800"/>
              <a:t>csv </a:t>
            </a:r>
            <a:endParaRPr lang="fr-FR" sz="1800"/>
          </a:p>
          <a:p>
            <a:r>
              <a:rPr lang="fr-FR" sz="1800" smtClean="0"/>
              <a:t>         - </a:t>
            </a:r>
            <a:r>
              <a:rPr lang="fr-FR" sz="1800"/>
              <a:t>Le </a:t>
            </a:r>
            <a:r>
              <a:rPr lang="fr-FR" sz="1800" b="1"/>
              <a:t>data cleaning en SQL</a:t>
            </a:r>
            <a:r>
              <a:rPr lang="fr-FR" sz="1800"/>
              <a:t> (nettoyage des données) consiste à rendre tes données </a:t>
            </a:r>
            <a:r>
              <a:rPr lang="fr-FR" sz="1800" b="1"/>
              <a:t>propres, cohérentes et exploitables</a:t>
            </a:r>
            <a:r>
              <a:rPr lang="fr-FR" sz="1800"/>
              <a:t> </a:t>
            </a:r>
            <a:r>
              <a:rPr lang="fr-FR" sz="1800"/>
              <a:t>avant </a:t>
            </a:r>
            <a:r>
              <a:rPr lang="fr-FR" sz="1800" smtClean="0"/>
              <a:t>l’analyse</a:t>
            </a:r>
            <a:endParaRPr lang="fr-FR" sz="1800" dirty="0"/>
          </a:p>
          <a:p>
            <a:r>
              <a:rPr lang="fr-FR" sz="1800" dirty="0"/>
              <a:t>2 </a:t>
            </a:r>
            <a:r>
              <a:rPr lang="fr-FR" sz="1800"/>
              <a:t>VSC </a:t>
            </a:r>
            <a:r>
              <a:rPr lang="fr-FR" sz="1800" smtClean="0"/>
              <a:t>: </a:t>
            </a:r>
            <a:r>
              <a:rPr lang="fr-FR" sz="1800" b="1"/>
              <a:t>Dans ce projet, nous avons utilisé Visual Studio Code pour le développement des requêtes SQL, ainsi que Git et GitHub pour assurer le suivi, la collaboration et la gestion des versions du code.</a:t>
            </a:r>
            <a:endParaRPr lang="fr-FR" sz="1800"/>
          </a:p>
          <a:p>
            <a:endParaRPr lang="fr-FR" sz="1800" dirty="0"/>
          </a:p>
          <a:p>
            <a:endParaRPr lang="fr-FR" sz="1800" dirty="0"/>
          </a:p>
        </p:txBody>
      </p:sp>
      <p:pic>
        <p:nvPicPr>
          <p:cNvPr id="5" name="Image 4"/>
          <p:cNvPicPr>
            <a:picLocks noChangeAspect="1"/>
          </p:cNvPicPr>
          <p:nvPr/>
        </p:nvPicPr>
        <p:blipFill>
          <a:blip r:embed="rId2">
            <a:extLst>
              <a:ext uri="{28A0092B-C50C-407E-A947-70E740481C1C}">
                <a14:useLocalDpi xmlns:a14="http://schemas.microsoft.com/office/drawing/2010/main" val="0"/>
              </a:ext>
            </a:extLst>
          </a:blip>
          <a:srcRect t="12970" b="20474"/>
          <a:stretch>
            <a:fillRect/>
          </a:stretch>
        </p:blipFill>
        <p:spPr>
          <a:xfrm>
            <a:off x="6095997" y="1"/>
            <a:ext cx="6074935" cy="3555332"/>
          </a:xfrm>
          <a:prstGeom prst="rect">
            <a:avLst/>
          </a:prstGeom>
        </p:spPr>
      </p:pic>
      <p:pic>
        <p:nvPicPr>
          <p:cNvPr id="7" name="Imag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117064" y="3555333"/>
            <a:ext cx="6074936" cy="316944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re 1"/>
          <p:cNvSpPr>
            <a:spLocks noGrp="1"/>
          </p:cNvSpPr>
          <p:nvPr>
            <p:ph type="title"/>
          </p:nvPr>
        </p:nvSpPr>
        <p:spPr>
          <a:xfrm>
            <a:off x="1024128" y="585216"/>
            <a:ext cx="4732244" cy="1499616"/>
          </a:xfrm>
        </p:spPr>
        <p:txBody>
          <a:bodyPr>
            <a:normAutofit/>
          </a:bodyPr>
          <a:lstStyle/>
          <a:p>
            <a:r>
              <a:rPr lang="fr-FR" sz="4800" smtClean="0"/>
              <a:t>3 GUITHUB :</a:t>
            </a:r>
            <a:endParaRPr lang="fr-FR" sz="4800"/>
          </a:p>
        </p:txBody>
      </p:sp>
      <p:cxnSp>
        <p:nvCxnSpPr>
          <p:cNvPr id="40" name="Straight Connector 39"/>
          <p:cNvCxnSpPr>
            <a:cxnSpLocks noGrp="1" noRot="1" noChangeAspect="1" noMove="1" noResize="1" noEditPoints="1" noAdjustHandles="1" noChangeArrowheads="1" noChangeShapeType="1"/>
          </p:cNvCxnSpPr>
          <p:nvPr/>
        </p:nvCxnSpPr>
        <p:spPr>
          <a:xfrm flipV="1">
            <a:off x="762000" y="826324"/>
            <a:ext cx="0" cy="914400"/>
          </a:xfrm>
          <a:prstGeom prst="line">
            <a:avLst/>
          </a:prstGeom>
          <a:ln w="19050">
            <a:solidFill>
              <a:srgbClr val="F5A720"/>
            </a:solidFill>
          </a:ln>
        </p:spPr>
        <p:style>
          <a:lnRef idx="1">
            <a:schemeClr val="accent1"/>
          </a:lnRef>
          <a:fillRef idx="0">
            <a:schemeClr val="accent1"/>
          </a:fillRef>
          <a:effectRef idx="0">
            <a:schemeClr val="accent1"/>
          </a:effectRef>
          <a:fontRef idx="minor">
            <a:schemeClr val="tx1"/>
          </a:fontRef>
        </p:style>
      </p:cxnSp>
      <p:sp>
        <p:nvSpPr>
          <p:cNvPr id="28" name="Content Placeholder 27"/>
          <p:cNvSpPr>
            <a:spLocks noGrp="1"/>
          </p:cNvSpPr>
          <p:nvPr>
            <p:ph idx="1"/>
          </p:nvPr>
        </p:nvSpPr>
        <p:spPr>
          <a:xfrm>
            <a:off x="1024129" y="2286000"/>
            <a:ext cx="4656236" cy="4023360"/>
          </a:xfrm>
        </p:spPr>
        <p:txBody>
          <a:bodyPr>
            <a:normAutofit/>
          </a:bodyPr>
          <a:lstStyle/>
          <a:p>
            <a:r>
              <a:rPr lang="en-US" sz="2000" dirty="0" err="1" smtClean="0"/>
              <a:t>Quelques</a:t>
            </a:r>
            <a:r>
              <a:rPr lang="en-US" sz="2000" dirty="0" smtClean="0"/>
              <a:t> </a:t>
            </a:r>
            <a:r>
              <a:rPr lang="en-US" sz="2000" dirty="0" err="1" smtClean="0"/>
              <a:t>exemples</a:t>
            </a:r>
            <a:r>
              <a:rPr lang="en-US" sz="2000" dirty="0" smtClean="0"/>
              <a:t> </a:t>
            </a:r>
            <a:r>
              <a:rPr lang="en-US" sz="2000" dirty="0" err="1" smtClean="0"/>
              <a:t>d’operations</a:t>
            </a:r>
            <a:r>
              <a:rPr lang="en-US" sz="2000" dirty="0" smtClean="0"/>
              <a:t> </a:t>
            </a:r>
            <a:r>
              <a:rPr lang="en-US" sz="2000" dirty="0"/>
              <a:t>,</a:t>
            </a:r>
          </a:p>
        </p:txBody>
      </p:sp>
      <p:sp>
        <p:nvSpPr>
          <p:cNvPr id="42" name="Rectangle 41"/>
          <p:cNvSpPr>
            <a:spLocks noGrp="1" noRot="1" noChangeAspect="1" noMove="1" noResize="1" noEditPoints="1" noAdjustHandles="1" noChangeArrowheads="1" noChangeShapeType="1" noTextEdit="1"/>
          </p:cNvSpPr>
          <p:nvPr/>
        </p:nvSpPr>
        <p:spPr>
          <a:xfrm>
            <a:off x="6083275" y="0"/>
            <a:ext cx="6108725" cy="6858000"/>
          </a:xfrm>
          <a:prstGeom prst="rect">
            <a:avLst/>
          </a:prstGeom>
          <a:solidFill>
            <a:srgbClr val="37535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p:cNvSpPr>
            <a:spLocks noGrp="1" noRot="1" noChangeAspect="1" noMove="1" noResize="1" noEditPoints="1" noAdjustHandles="1" noChangeArrowheads="1" noChangeShapeType="1" noTextEdit="1"/>
          </p:cNvSpPr>
          <p:nvPr/>
        </p:nvSpPr>
        <p:spPr>
          <a:xfrm>
            <a:off x="6405010" y="321731"/>
            <a:ext cx="3278619" cy="3662235"/>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Espace réservé du contenu 8"/>
          <p:cNvPicPr>
            <a:picLocks noChangeAspect="1"/>
          </p:cNvPicPr>
          <p:nvPr/>
        </p:nvPicPr>
        <p:blipFill>
          <a:blip r:embed="rId2">
            <a:extLst>
              <a:ext uri="{28A0092B-C50C-407E-A947-70E740481C1C}">
                <a14:useLocalDpi xmlns:a14="http://schemas.microsoft.com/office/drawing/2010/main" val="0"/>
              </a:ext>
            </a:extLst>
          </a:blip>
          <a:srcRect l="6854" r="26183"/>
          <a:stretch>
            <a:fillRect/>
          </a:stretch>
        </p:blipFill>
        <p:spPr>
          <a:xfrm>
            <a:off x="6569894" y="721891"/>
            <a:ext cx="2958039" cy="2861913"/>
          </a:xfrm>
          <a:prstGeom prst="rect">
            <a:avLst/>
          </a:prstGeom>
        </p:spPr>
      </p:pic>
      <p:sp>
        <p:nvSpPr>
          <p:cNvPr id="46" name="Rectangle 45"/>
          <p:cNvSpPr>
            <a:spLocks noGrp="1" noRot="1" noChangeAspect="1" noMove="1" noResize="1" noEditPoints="1" noAdjustHandles="1" noChangeArrowheads="1" noChangeShapeType="1" noTextEdit="1"/>
          </p:cNvSpPr>
          <p:nvPr/>
        </p:nvSpPr>
        <p:spPr>
          <a:xfrm>
            <a:off x="9848513" y="311970"/>
            <a:ext cx="2028821" cy="1180366"/>
          </a:xfrm>
          <a:prstGeom prst="rect">
            <a:avLst/>
          </a:prstGeom>
          <a:solidFill>
            <a:schemeClr val="accent2">
              <a:lumMod val="60000"/>
              <a:lumOff val="40000"/>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p:cNvSpPr>
            <a:spLocks noGrp="1" noRot="1" noChangeAspect="1" noMove="1" noResize="1" noEditPoints="1" noAdjustHandles="1" noChangeArrowheads="1" noChangeShapeType="1" noTextEdit="1"/>
          </p:cNvSpPr>
          <p:nvPr/>
        </p:nvSpPr>
        <p:spPr>
          <a:xfrm>
            <a:off x="9862872" y="1665817"/>
            <a:ext cx="2014462" cy="2318149"/>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Image 6"/>
          <p:cNvPicPr>
            <a:picLocks noChangeAspect="1"/>
          </p:cNvPicPr>
          <p:nvPr/>
        </p:nvPicPr>
        <p:blipFill>
          <a:blip r:embed="rId3" cstate="print">
            <a:extLst>
              <a:ext uri="{28A0092B-C50C-407E-A947-70E740481C1C}">
                <a14:useLocalDpi xmlns:a14="http://schemas.microsoft.com/office/drawing/2010/main" val="0"/>
              </a:ext>
            </a:extLst>
          </a:blip>
          <a:srcRect l="13403" r="44011" b="-2"/>
          <a:stretch>
            <a:fillRect/>
          </a:stretch>
        </p:blipFill>
        <p:spPr>
          <a:xfrm>
            <a:off x="10265242" y="1804306"/>
            <a:ext cx="1189038" cy="2017323"/>
          </a:xfrm>
          <a:prstGeom prst="rect">
            <a:avLst/>
          </a:prstGeom>
        </p:spPr>
      </p:pic>
      <p:sp>
        <p:nvSpPr>
          <p:cNvPr id="50" name="Rectangle 49"/>
          <p:cNvSpPr>
            <a:spLocks noGrp="1" noRot="1" noChangeAspect="1" noMove="1" noResize="1" noEditPoints="1" noAdjustHandles="1" noChangeArrowheads="1" noChangeShapeType="1" noTextEdit="1"/>
          </p:cNvSpPr>
          <p:nvPr/>
        </p:nvSpPr>
        <p:spPr>
          <a:xfrm>
            <a:off x="6405008" y="4157447"/>
            <a:ext cx="2104750" cy="2312282"/>
          </a:xfrm>
          <a:prstGeom prst="rect">
            <a:avLst/>
          </a:prstGeom>
          <a:solidFill>
            <a:schemeClr val="tx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p:cNvSpPr>
            <a:spLocks noGrp="1" noRot="1" noChangeAspect="1" noMove="1" noResize="1" noEditPoints="1" noAdjustHandles="1" noChangeArrowheads="1" noChangeShapeType="1" noTextEdit="1"/>
          </p:cNvSpPr>
          <p:nvPr/>
        </p:nvSpPr>
        <p:spPr>
          <a:xfrm>
            <a:off x="8670625" y="4157447"/>
            <a:ext cx="3206709" cy="2312282"/>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Espace réservé du contenu 4"/>
          <p:cNvPicPr>
            <a:picLocks noChangeAspect="1"/>
          </p:cNvPicPr>
          <p:nvPr/>
        </p:nvPicPr>
        <p:blipFill>
          <a:blip r:embed="rId4"/>
          <a:srcRect l="7640" r="-1" b="-1"/>
          <a:stretch>
            <a:fillRect/>
          </a:stretch>
        </p:blipFill>
        <p:spPr>
          <a:xfrm>
            <a:off x="8833799" y="4436476"/>
            <a:ext cx="2880360" cy="175422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re 1"/>
          <p:cNvSpPr>
            <a:spLocks noGrp="1"/>
          </p:cNvSpPr>
          <p:nvPr>
            <p:ph type="title"/>
          </p:nvPr>
        </p:nvSpPr>
        <p:spPr>
          <a:xfrm>
            <a:off x="1024128" y="585216"/>
            <a:ext cx="5902061" cy="1499616"/>
          </a:xfrm>
        </p:spPr>
        <p:txBody>
          <a:bodyPr>
            <a:normAutofit/>
          </a:bodyPr>
          <a:lstStyle/>
          <a:p>
            <a:r>
              <a:rPr lang="fr-FR" dirty="0"/>
              <a:t>Base de Données</a:t>
            </a:r>
          </a:p>
        </p:txBody>
      </p:sp>
      <p:cxnSp>
        <p:nvCxnSpPr>
          <p:cNvPr id="10" name="Straight Connector 9"/>
          <p:cNvCxnSpPr>
            <a:cxnSpLocks noGrp="1" noRot="1" noChangeAspect="1" noMove="1" noResize="1" noEditPoints="1" noAdjustHandles="1" noChangeArrowheads="1" noChangeShapeType="1"/>
          </p:cNvCxnSpPr>
          <p:nvPr/>
        </p:nvCxnSpPr>
        <p:spPr>
          <a:xfrm flipV="1">
            <a:off x="762000" y="826324"/>
            <a:ext cx="0" cy="914400"/>
          </a:xfrm>
          <a:prstGeom prst="line">
            <a:avLst/>
          </a:prstGeom>
          <a:ln w="19050">
            <a:solidFill>
              <a:srgbClr val="94E7FB"/>
            </a:solidFill>
          </a:ln>
        </p:spPr>
        <p:style>
          <a:lnRef idx="1">
            <a:schemeClr val="accent1"/>
          </a:lnRef>
          <a:fillRef idx="0">
            <a:schemeClr val="accent1"/>
          </a:fillRef>
          <a:effectRef idx="0">
            <a:schemeClr val="accent1"/>
          </a:effectRef>
          <a:fontRef idx="minor">
            <a:schemeClr val="tx1"/>
          </a:fontRef>
        </p:style>
      </p:cxnSp>
      <p:sp>
        <p:nvSpPr>
          <p:cNvPr id="3" name="Espace réservé du contenu 2"/>
          <p:cNvSpPr>
            <a:spLocks noGrp="1"/>
          </p:cNvSpPr>
          <p:nvPr>
            <p:ph idx="1"/>
          </p:nvPr>
        </p:nvSpPr>
        <p:spPr>
          <a:xfrm>
            <a:off x="1024128" y="2286000"/>
            <a:ext cx="5902061" cy="3931920"/>
          </a:xfrm>
        </p:spPr>
        <p:txBody>
          <a:bodyPr>
            <a:normAutofit/>
          </a:bodyPr>
          <a:lstStyle/>
          <a:p>
            <a:r>
              <a:rPr lang="fr-FR" dirty="0"/>
              <a:t>La base de données est composée d’une table principale appelée “</a:t>
            </a:r>
            <a:r>
              <a:rPr lang="fr-FR" dirty="0" err="1"/>
              <a:t>Telco</a:t>
            </a:r>
            <a:r>
              <a:rPr lang="fr-FR" dirty="0"/>
              <a:t>”. Elle contient des colonnes importantes comme </a:t>
            </a:r>
            <a:r>
              <a:rPr lang="fr-FR" dirty="0" err="1"/>
              <a:t>CustomerID</a:t>
            </a:r>
            <a:r>
              <a:rPr lang="fr-FR" dirty="0"/>
              <a:t>, </a:t>
            </a:r>
            <a:r>
              <a:rPr lang="fr-FR" dirty="0" err="1"/>
              <a:t>Churn</a:t>
            </a:r>
            <a:r>
              <a:rPr lang="fr-FR" dirty="0"/>
              <a:t>, Tenure, </a:t>
            </a:r>
            <a:r>
              <a:rPr lang="fr-FR" dirty="0" err="1"/>
              <a:t>MonthlyCharges</a:t>
            </a:r>
            <a:r>
              <a:rPr lang="fr-FR" dirty="0"/>
              <a:t> et </a:t>
            </a:r>
            <a:r>
              <a:rPr lang="fr-FR" dirty="0" err="1"/>
              <a:t>Contract</a:t>
            </a:r>
            <a:r>
              <a:rPr lang="fr-FR" dirty="0"/>
              <a:t>. Cette structure simple facilite l’analyse.</a:t>
            </a:r>
          </a:p>
        </p:txBody>
      </p:sp>
      <p:pic>
        <p:nvPicPr>
          <p:cNvPr id="5" name="Imag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26189" y="374755"/>
            <a:ext cx="4946021" cy="616095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re 1"/>
          <p:cNvSpPr>
            <a:spLocks noGrp="1"/>
          </p:cNvSpPr>
          <p:nvPr>
            <p:ph type="title"/>
          </p:nvPr>
        </p:nvSpPr>
        <p:spPr>
          <a:xfrm>
            <a:off x="1024128" y="585216"/>
            <a:ext cx="9720072" cy="1499616"/>
          </a:xfrm>
        </p:spPr>
        <p:txBody>
          <a:bodyPr>
            <a:normAutofit/>
          </a:bodyPr>
          <a:lstStyle/>
          <a:p>
            <a:r>
              <a:rPr lang="fr-FR" dirty="0"/>
              <a:t>Analyse SQL</a:t>
            </a:r>
          </a:p>
        </p:txBody>
      </p:sp>
      <p:cxnSp>
        <p:nvCxnSpPr>
          <p:cNvPr id="10" name="Straight Connector 9"/>
          <p:cNvCxnSpPr>
            <a:cxnSpLocks noGrp="1" noRot="1" noChangeAspect="1" noMove="1" noResize="1" noEditPoints="1" noAdjustHandles="1" noChangeArrowheads="1" noChangeShapeType="1"/>
          </p:cNvCxnSpPr>
          <p:nvPr/>
        </p:nvCxnSpPr>
        <p:spPr>
          <a:xfrm flipV="1">
            <a:off x="762000" y="826324"/>
            <a:ext cx="0" cy="914400"/>
          </a:xfrm>
          <a:prstGeom prst="line">
            <a:avLst/>
          </a:prstGeom>
          <a:ln w="19050">
            <a:solidFill>
              <a:schemeClr val="accent2"/>
            </a:solidFill>
          </a:ln>
        </p:spPr>
        <p:style>
          <a:lnRef idx="1">
            <a:schemeClr val="accent1"/>
          </a:lnRef>
          <a:fillRef idx="0">
            <a:schemeClr val="accent1"/>
          </a:fillRef>
          <a:effectRef idx="0">
            <a:schemeClr val="accent1"/>
          </a:effectRef>
          <a:fontRef idx="minor">
            <a:schemeClr val="tx1"/>
          </a:fontRef>
        </p:style>
      </p:cxnSp>
      <p:pic>
        <p:nvPicPr>
          <p:cNvPr id="7" name="Graphic 6" descr="Base de données"/>
          <p:cNvPicPr>
            <a:picLocks noChangeAspect="1"/>
          </p:cNvPicPr>
          <p:nvPr/>
        </p:nvPicPr>
        <p:blipFill>
          <a:blip r:embed="rId2">
            <a:extLst>
              <a:ext uri="{28A0092B-C50C-407E-A947-70E740481C1C}">
                <a14:useLocalDpi xmlns:a14="http://schemas.microsoft.com/office/drawing/2010/main" val="0"/>
              </a:ext>
              <a:ext uri="{96DAC541-7B7A-43D3-8B79-37D633B846F1}">
                <asvg:svgBlip xmlns="" xmlns:asvg="http://schemas.microsoft.com/office/drawing/2016/SVG/main" r:embed="rId3"/>
              </a:ext>
            </a:extLst>
          </a:blip>
          <a:stretch>
            <a:fillRect/>
          </a:stretch>
        </p:blipFill>
        <p:spPr>
          <a:xfrm>
            <a:off x="1107504" y="2386051"/>
            <a:ext cx="3448851" cy="3448851"/>
          </a:xfrm>
          <a:prstGeom prst="rect">
            <a:avLst/>
          </a:prstGeom>
        </p:spPr>
      </p:pic>
      <p:sp>
        <p:nvSpPr>
          <p:cNvPr id="3" name="Espace réservé du contenu 2"/>
          <p:cNvSpPr>
            <a:spLocks noGrp="1"/>
          </p:cNvSpPr>
          <p:nvPr>
            <p:ph idx="1"/>
          </p:nvPr>
        </p:nvSpPr>
        <p:spPr>
          <a:xfrm>
            <a:off x="5063613" y="2286000"/>
            <a:ext cx="5680587" cy="4023360"/>
          </a:xfrm>
        </p:spPr>
        <p:txBody>
          <a:bodyPr>
            <a:normAutofit/>
          </a:bodyPr>
          <a:lstStyle/>
          <a:p>
            <a:r>
              <a:rPr lang="fr-FR" b="1" dirty="0"/>
              <a:t>Les requêtes SQL permettent d’analyser la répartition du </a:t>
            </a:r>
            <a:r>
              <a:rPr lang="fr-FR" b="1" dirty="0" err="1"/>
              <a:t>churn</a:t>
            </a:r>
            <a:r>
              <a:rPr lang="fr-FR" b="1" dirty="0"/>
              <a:t>, les charges moyennes et les types de contrats. Ces analyses sont essentielles pour comprendre le comportement des clients</a:t>
            </a:r>
            <a:endParaRPr lang="fr-FR" dirty="0"/>
          </a:p>
          <a:p>
            <a:endParaRPr lang="fr-FR" b="1"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re 1"/>
          <p:cNvSpPr>
            <a:spLocks noGrp="1"/>
          </p:cNvSpPr>
          <p:nvPr>
            <p:ph type="title"/>
          </p:nvPr>
        </p:nvSpPr>
        <p:spPr>
          <a:xfrm>
            <a:off x="1024128" y="585216"/>
            <a:ext cx="3133581" cy="1499616"/>
          </a:xfrm>
        </p:spPr>
        <p:txBody>
          <a:bodyPr vert="horz" lIns="91440" tIns="45720" rIns="91440" bIns="45720" rtlCol="0" anchor="ctr">
            <a:normAutofit/>
          </a:bodyPr>
          <a:lstStyle/>
          <a:p>
            <a:r>
              <a:rPr lang="en-US" sz="2200" b="1"/>
              <a:t>Diagramme : Répartition du Churn</a:t>
            </a:r>
            <a:br>
              <a:rPr lang="en-US" sz="2200" b="1"/>
            </a:br>
            <a:r>
              <a:rPr lang="en-US" sz="2200"/>
              <a:t/>
            </a:r>
            <a:br>
              <a:rPr lang="en-US" sz="2200"/>
            </a:br>
            <a:endParaRPr lang="en-US" sz="2200"/>
          </a:p>
        </p:txBody>
      </p:sp>
      <p:cxnSp>
        <p:nvCxnSpPr>
          <p:cNvPr id="18" name="Straight Connector 11"/>
          <p:cNvCxnSpPr>
            <a:cxnSpLocks noGrp="1" noRot="1" noChangeAspect="1" noMove="1" noResize="1" noEditPoints="1" noAdjustHandles="1" noChangeArrowheads="1" noChangeShapeType="1"/>
          </p:cNvCxnSpPr>
          <p:nvPr/>
        </p:nvCxnSpPr>
        <p:spPr>
          <a:xfrm flipV="1">
            <a:off x="762000" y="826324"/>
            <a:ext cx="0" cy="914400"/>
          </a:xfrm>
          <a:prstGeom prst="line">
            <a:avLst/>
          </a:prstGeom>
          <a:ln w="19050">
            <a:solidFill>
              <a:srgbClr val="FF820E"/>
            </a:solidFill>
          </a:ln>
        </p:spPr>
        <p:style>
          <a:lnRef idx="1">
            <a:schemeClr val="accent1"/>
          </a:lnRef>
          <a:fillRef idx="0">
            <a:schemeClr val="accent1"/>
          </a:fillRef>
          <a:effectRef idx="0">
            <a:schemeClr val="accent1"/>
          </a:effectRef>
          <a:fontRef idx="minor">
            <a:schemeClr val="tx1"/>
          </a:fontRef>
        </p:style>
      </p:cxnSp>
      <p:sp>
        <p:nvSpPr>
          <p:cNvPr id="7" name="ZoneTexte 6"/>
          <p:cNvSpPr txBox="1"/>
          <p:nvPr/>
        </p:nvSpPr>
        <p:spPr>
          <a:xfrm>
            <a:off x="1024128" y="2286000"/>
            <a:ext cx="3133580" cy="3931920"/>
          </a:xfrm>
          <a:prstGeom prst="rect">
            <a:avLst/>
          </a:prstGeom>
        </p:spPr>
        <p:txBody>
          <a:bodyPr vert="horz" lIns="45720" tIns="45720" rIns="45720" bIns="45720" rtlCol="0">
            <a:normAutofit/>
          </a:bodyPr>
          <a:lstStyle/>
          <a:p>
            <a:pPr defTabSz="914400">
              <a:lnSpc>
                <a:spcPct val="90000"/>
              </a:lnSpc>
              <a:spcAft>
                <a:spcPts val="600"/>
              </a:spcAft>
              <a:buClr>
                <a:schemeClr val="accent2"/>
              </a:buClr>
              <a:buNone/>
            </a:pPr>
            <a:r>
              <a:rPr lang="en-US" sz="1600" dirty="0"/>
              <a:t>Ce </a:t>
            </a:r>
            <a:r>
              <a:rPr lang="en-US" sz="1600" dirty="0" err="1"/>
              <a:t>que</a:t>
            </a:r>
            <a:r>
              <a:rPr lang="en-US" sz="1600" dirty="0"/>
              <a:t> </a:t>
            </a:r>
            <a:r>
              <a:rPr lang="en-US" sz="1600" dirty="0" err="1"/>
              <a:t>tu</a:t>
            </a:r>
            <a:r>
              <a:rPr lang="en-US" sz="1600" dirty="0"/>
              <a:t> </a:t>
            </a:r>
            <a:r>
              <a:rPr lang="en-US" sz="1600" dirty="0" err="1"/>
              <a:t>vois</a:t>
            </a:r>
            <a:r>
              <a:rPr lang="en-US" sz="1600" dirty="0"/>
              <a:t> :</a:t>
            </a:r>
          </a:p>
          <a:p>
            <a:pPr defTabSz="914400">
              <a:lnSpc>
                <a:spcPct val="90000"/>
              </a:lnSpc>
              <a:spcAft>
                <a:spcPts val="600"/>
              </a:spcAft>
              <a:buClr>
                <a:schemeClr val="accent2"/>
              </a:buClr>
              <a:buFont typeface="Arial" panose="020B0604020202020204" pitchFamily="34" charset="0"/>
              <a:buChar char="•"/>
            </a:pPr>
            <a:r>
              <a:rPr lang="en-US" sz="1600" dirty="0"/>
              <a:t>Deux parties : </a:t>
            </a:r>
            <a:r>
              <a:rPr lang="en-US" sz="1600" b="1" dirty="0"/>
              <a:t>Yes (partis)</a:t>
            </a:r>
            <a:r>
              <a:rPr lang="en-US" sz="1600" dirty="0"/>
              <a:t> / </a:t>
            </a:r>
            <a:r>
              <a:rPr lang="en-US" sz="1600" b="1" dirty="0"/>
              <a:t>No (</a:t>
            </a:r>
            <a:r>
              <a:rPr lang="en-US" sz="1600" b="1" dirty="0" err="1"/>
              <a:t>restés</a:t>
            </a:r>
            <a:r>
              <a:rPr lang="en-US" sz="1600" b="1" dirty="0"/>
              <a:t>)</a:t>
            </a:r>
            <a:r>
              <a:rPr lang="en-US" sz="1600" dirty="0"/>
              <a:t> </a:t>
            </a:r>
          </a:p>
          <a:p>
            <a:pPr defTabSz="914400">
              <a:lnSpc>
                <a:spcPct val="90000"/>
              </a:lnSpc>
              <a:spcAft>
                <a:spcPts val="600"/>
              </a:spcAft>
              <a:buClr>
                <a:schemeClr val="accent2"/>
              </a:buClr>
              <a:buNone/>
            </a:pPr>
            <a:r>
              <a:rPr lang="en-US" sz="1600" dirty="0"/>
              <a:t> Comment </a:t>
            </a:r>
            <a:r>
              <a:rPr lang="en-US" sz="1600" dirty="0" err="1"/>
              <a:t>expliquer</a:t>
            </a:r>
            <a:r>
              <a:rPr lang="en-US" sz="1600" dirty="0"/>
              <a:t> :</a:t>
            </a:r>
          </a:p>
          <a:p>
            <a:pPr defTabSz="914400">
              <a:lnSpc>
                <a:spcPct val="90000"/>
              </a:lnSpc>
              <a:spcAft>
                <a:spcPts val="600"/>
              </a:spcAft>
              <a:buClr>
                <a:schemeClr val="accent2"/>
              </a:buClr>
              <a:buNone/>
            </a:pPr>
            <a:r>
              <a:rPr lang="en-US" sz="1600" dirty="0"/>
              <a:t>“Ce </a:t>
            </a:r>
            <a:r>
              <a:rPr lang="en-US" sz="1600" dirty="0" err="1"/>
              <a:t>diagramme</a:t>
            </a:r>
            <a:r>
              <a:rPr lang="en-US" sz="1600" dirty="0"/>
              <a:t> montre la </a:t>
            </a:r>
            <a:r>
              <a:rPr lang="en-US" sz="1600" dirty="0" err="1"/>
              <a:t>répartition</a:t>
            </a:r>
            <a:r>
              <a:rPr lang="en-US" sz="1600" dirty="0"/>
              <a:t> des clients. On observe </a:t>
            </a:r>
            <a:r>
              <a:rPr lang="en-US" sz="1600" dirty="0" err="1"/>
              <a:t>qu’une</a:t>
            </a:r>
            <a:r>
              <a:rPr lang="en-US" sz="1600" dirty="0"/>
              <a:t> </a:t>
            </a:r>
            <a:r>
              <a:rPr lang="en-US" sz="1600" dirty="0" err="1"/>
              <a:t>partie</a:t>
            </a:r>
            <a:r>
              <a:rPr lang="en-US" sz="1600" dirty="0"/>
              <a:t> </a:t>
            </a:r>
            <a:r>
              <a:rPr lang="en-US" sz="1600" dirty="0" err="1"/>
              <a:t>importante</a:t>
            </a:r>
            <a:r>
              <a:rPr lang="en-US" sz="1600" dirty="0"/>
              <a:t> des clients </a:t>
            </a:r>
            <a:r>
              <a:rPr lang="en-US" sz="1600" dirty="0" err="1"/>
              <a:t>quitte</a:t>
            </a:r>
            <a:r>
              <a:rPr lang="en-US" sz="1600" dirty="0"/>
              <a:t> </a:t>
            </a:r>
            <a:r>
              <a:rPr lang="en-US" sz="1600" dirty="0" err="1"/>
              <a:t>l’entreprise</a:t>
            </a:r>
            <a:r>
              <a:rPr lang="en-US" sz="1600" dirty="0"/>
              <a:t>.”</a:t>
            </a:r>
          </a:p>
          <a:p>
            <a:pPr defTabSz="914400">
              <a:lnSpc>
                <a:spcPct val="90000"/>
              </a:lnSpc>
              <a:spcAft>
                <a:spcPts val="600"/>
              </a:spcAft>
              <a:buClr>
                <a:schemeClr val="accent2"/>
              </a:buClr>
              <a:buNone/>
            </a:pPr>
            <a:r>
              <a:rPr lang="en-US" sz="1600" dirty="0"/>
              <a:t> </a:t>
            </a:r>
            <a:r>
              <a:rPr lang="en-US" sz="1600" dirty="0" err="1"/>
              <a:t>Interprétation</a:t>
            </a:r>
            <a:r>
              <a:rPr lang="en-US" sz="1600" dirty="0"/>
              <a:t> :</a:t>
            </a:r>
          </a:p>
          <a:p>
            <a:pPr defTabSz="914400">
              <a:lnSpc>
                <a:spcPct val="90000"/>
              </a:lnSpc>
              <a:spcAft>
                <a:spcPts val="600"/>
              </a:spcAft>
              <a:buClr>
                <a:schemeClr val="accent2"/>
              </a:buClr>
              <a:buFont typeface="Arial" panose="020B0604020202020204" pitchFamily="34" charset="0"/>
              <a:buChar char="•"/>
            </a:pPr>
            <a:r>
              <a:rPr lang="en-US" sz="1600" dirty="0"/>
              <a:t>Si la part “Yes” est grande → </a:t>
            </a:r>
          </a:p>
          <a:p>
            <a:pPr defTabSz="914400">
              <a:lnSpc>
                <a:spcPct val="90000"/>
              </a:lnSpc>
              <a:spcAft>
                <a:spcPts val="600"/>
              </a:spcAft>
              <a:buClr>
                <a:schemeClr val="accent2"/>
              </a:buClr>
              <a:buFont typeface="Arial" panose="020B0604020202020204" pitchFamily="34" charset="0"/>
              <a:buChar char="•"/>
            </a:pPr>
            <a:r>
              <a:rPr lang="en-US" sz="1600" dirty="0" err="1"/>
              <a:t>problème</a:t>
            </a:r>
            <a:r>
              <a:rPr lang="en-US" sz="1600" dirty="0"/>
              <a:t> </a:t>
            </a:r>
          </a:p>
          <a:p>
            <a:pPr defTabSz="914400">
              <a:lnSpc>
                <a:spcPct val="90000"/>
              </a:lnSpc>
              <a:spcAft>
                <a:spcPts val="600"/>
              </a:spcAft>
              <a:buClr>
                <a:schemeClr val="accent2"/>
              </a:buClr>
              <a:buFont typeface="Arial" panose="020B0604020202020204" pitchFamily="34" charset="0"/>
              <a:buChar char="•"/>
            </a:pPr>
            <a:r>
              <a:rPr lang="en-US" sz="1600" dirty="0"/>
              <a:t>Si </a:t>
            </a:r>
            <a:r>
              <a:rPr lang="en-US" sz="1600" dirty="0" err="1"/>
              <a:t>elle</a:t>
            </a:r>
            <a:r>
              <a:rPr lang="en-US" sz="1600" dirty="0"/>
              <a:t> est petite → situation stable</a:t>
            </a:r>
          </a:p>
        </p:txBody>
      </p:sp>
      <p:pic>
        <p:nvPicPr>
          <p:cNvPr id="5" name="Espace réservé du contenu 4"/>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179336" y="2311284"/>
            <a:ext cx="6909577" cy="3060242"/>
          </a:xfrm>
          <a:prstGeom prst="rect">
            <a:avLst/>
          </a:prstGeom>
        </p:spPr>
      </p:pic>
      <p:sp>
        <p:nvSpPr>
          <p:cNvPr id="9" name="ZoneTexte 8"/>
          <p:cNvSpPr txBox="1"/>
          <p:nvPr/>
        </p:nvSpPr>
        <p:spPr>
          <a:xfrm>
            <a:off x="6098500" y="808672"/>
            <a:ext cx="6093500" cy="1477328"/>
          </a:xfrm>
          <a:prstGeom prst="rect">
            <a:avLst/>
          </a:prstGeom>
          <a:noFill/>
        </p:spPr>
        <p:txBody>
          <a:bodyPr wrap="square">
            <a:spAutoFit/>
          </a:bodyPr>
          <a:lstStyle/>
          <a:p>
            <a:pPr rtl="0">
              <a:buNone/>
            </a:pPr>
            <a:r>
              <a:rPr lang="en-US" dirty="0">
                <a:solidFill>
                  <a:srgbClr val="00B050"/>
                </a:solidFill>
              </a:rPr>
              <a:t>SELECT </a:t>
            </a:r>
            <a:br>
              <a:rPr lang="en-US" dirty="0">
                <a:solidFill>
                  <a:srgbClr val="00B050"/>
                </a:solidFill>
              </a:rPr>
            </a:br>
            <a:r>
              <a:rPr lang="en-US" dirty="0">
                <a:solidFill>
                  <a:srgbClr val="00B050"/>
                </a:solidFill>
              </a:rPr>
              <a:t>Churn,</a:t>
            </a:r>
            <a:br>
              <a:rPr lang="en-US" dirty="0">
                <a:solidFill>
                  <a:srgbClr val="00B050"/>
                </a:solidFill>
              </a:rPr>
            </a:br>
            <a:r>
              <a:rPr lang="en-US" dirty="0">
                <a:solidFill>
                  <a:srgbClr val="00B050"/>
                </a:solidFill>
              </a:rPr>
              <a:t>COUNT(*) AS </a:t>
            </a:r>
            <a:r>
              <a:rPr lang="en-US" dirty="0" err="1">
                <a:solidFill>
                  <a:srgbClr val="00B050"/>
                </a:solidFill>
              </a:rPr>
              <a:t>TotalClients</a:t>
            </a:r>
            <a:r>
              <a:rPr lang="en-US" dirty="0">
                <a:solidFill>
                  <a:srgbClr val="00B050"/>
                </a:solidFill>
              </a:rPr>
              <a:t/>
            </a:r>
            <a:br>
              <a:rPr lang="en-US" dirty="0">
                <a:solidFill>
                  <a:srgbClr val="00B050"/>
                </a:solidFill>
              </a:rPr>
            </a:br>
            <a:r>
              <a:rPr lang="en-US" dirty="0">
                <a:solidFill>
                  <a:srgbClr val="00B050"/>
                </a:solidFill>
              </a:rPr>
              <a:t>FROM Telco</a:t>
            </a:r>
            <a:br>
              <a:rPr lang="en-US" dirty="0">
                <a:solidFill>
                  <a:srgbClr val="00B050"/>
                </a:solidFill>
              </a:rPr>
            </a:br>
            <a:r>
              <a:rPr lang="en-US" dirty="0">
                <a:solidFill>
                  <a:srgbClr val="00B050"/>
                </a:solidFill>
              </a:rPr>
              <a:t>GROUP BY Churn</a:t>
            </a:r>
            <a:r>
              <a:rPr lang="en-US" dirty="0"/>
              <a:t>;</a:t>
            </a:r>
          </a:p>
        </p:txBody>
      </p:sp>
      <p:sp>
        <p:nvSpPr>
          <p:cNvPr id="11" name="ZoneTexte 10"/>
          <p:cNvSpPr txBox="1"/>
          <p:nvPr/>
        </p:nvSpPr>
        <p:spPr>
          <a:xfrm>
            <a:off x="3951401" y="5756255"/>
            <a:ext cx="6093500" cy="1200329"/>
          </a:xfrm>
          <a:prstGeom prst="rect">
            <a:avLst/>
          </a:prstGeom>
          <a:noFill/>
        </p:spPr>
        <p:txBody>
          <a:bodyPr wrap="square">
            <a:spAutoFit/>
          </a:bodyPr>
          <a:lstStyle/>
          <a:p>
            <a:r>
              <a:rPr lang="fr-FR" b="1" dirty="0"/>
              <a:t>Ce diagramme circulaire montre la proportion des clients qui quittent le service. On observe qu’une part importante de clients quitte l’entreprise, ce qui représente un risque important.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re 1"/>
          <p:cNvSpPr>
            <a:spLocks noGrp="1"/>
          </p:cNvSpPr>
          <p:nvPr>
            <p:ph type="title"/>
          </p:nvPr>
        </p:nvSpPr>
        <p:spPr>
          <a:xfrm>
            <a:off x="1024128" y="585216"/>
            <a:ext cx="3133581" cy="1499616"/>
          </a:xfrm>
        </p:spPr>
        <p:txBody>
          <a:bodyPr>
            <a:normAutofit/>
          </a:bodyPr>
          <a:lstStyle/>
          <a:p>
            <a:r>
              <a:rPr lang="fr-FR" sz="3700"/>
              <a:t>Diagramme : Charges vs Churn</a:t>
            </a:r>
          </a:p>
        </p:txBody>
      </p:sp>
      <p:cxnSp>
        <p:nvCxnSpPr>
          <p:cNvPr id="10" name="Straight Connector 9"/>
          <p:cNvCxnSpPr>
            <a:cxnSpLocks noGrp="1" noRot="1" noChangeAspect="1" noMove="1" noResize="1" noEditPoints="1" noAdjustHandles="1" noChangeArrowheads="1" noChangeShapeType="1"/>
          </p:cNvCxnSpPr>
          <p:nvPr/>
        </p:nvCxnSpPr>
        <p:spPr>
          <a:xfrm flipV="1">
            <a:off x="762000" y="826324"/>
            <a:ext cx="0" cy="914400"/>
          </a:xfrm>
          <a:prstGeom prst="line">
            <a:avLst/>
          </a:prstGeom>
          <a:ln w="19050">
            <a:solidFill>
              <a:srgbClr val="1F78B3"/>
            </a:solidFill>
          </a:ln>
        </p:spPr>
        <p:style>
          <a:lnRef idx="1">
            <a:schemeClr val="accent1"/>
          </a:lnRef>
          <a:fillRef idx="0">
            <a:schemeClr val="accent1"/>
          </a:fillRef>
          <a:effectRef idx="0">
            <a:schemeClr val="accent1"/>
          </a:effectRef>
          <a:fontRef idx="minor">
            <a:schemeClr val="tx1"/>
          </a:fontRef>
        </p:style>
      </p:cxnSp>
      <p:sp>
        <p:nvSpPr>
          <p:cNvPr id="3" name="Espace réservé du contenu 2"/>
          <p:cNvSpPr>
            <a:spLocks noGrp="1"/>
          </p:cNvSpPr>
          <p:nvPr>
            <p:ph idx="1"/>
          </p:nvPr>
        </p:nvSpPr>
        <p:spPr>
          <a:xfrm>
            <a:off x="1024128" y="2286000"/>
            <a:ext cx="3133580" cy="3931920"/>
          </a:xfrm>
        </p:spPr>
        <p:txBody>
          <a:bodyPr>
            <a:normAutofit/>
          </a:bodyPr>
          <a:lstStyle/>
          <a:p>
            <a:r>
              <a:rPr lang="fr-FR" sz="1600" dirty="0"/>
              <a:t> Ce que tu vois : 2 barres : clients partis clients restés  Comment expliquer : “Les clients qui quittent ont en moyenne des charges mensuelles plus élevées.”  Interprétation : Prix élevé = clients partent </a:t>
            </a:r>
          </a:p>
        </p:txBody>
      </p:sp>
      <p:pic>
        <p:nvPicPr>
          <p:cNvPr id="5" name="Imag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87220" y="2285999"/>
            <a:ext cx="6065519" cy="2979175"/>
          </a:xfrm>
          <a:prstGeom prst="rect">
            <a:avLst/>
          </a:prstGeom>
        </p:spPr>
      </p:pic>
      <p:sp>
        <p:nvSpPr>
          <p:cNvPr id="7" name="ZoneTexte 6"/>
          <p:cNvSpPr txBox="1"/>
          <p:nvPr/>
        </p:nvSpPr>
        <p:spPr>
          <a:xfrm>
            <a:off x="5559239" y="430085"/>
            <a:ext cx="6093500" cy="1477328"/>
          </a:xfrm>
          <a:prstGeom prst="rect">
            <a:avLst/>
          </a:prstGeom>
          <a:noFill/>
        </p:spPr>
        <p:txBody>
          <a:bodyPr wrap="square">
            <a:spAutoFit/>
          </a:bodyPr>
          <a:lstStyle/>
          <a:p>
            <a:r>
              <a:rPr lang="en-US" dirty="0">
                <a:solidFill>
                  <a:srgbClr val="00B050"/>
                </a:solidFill>
              </a:rPr>
              <a:t>SELECT </a:t>
            </a:r>
            <a:br>
              <a:rPr lang="en-US" dirty="0">
                <a:solidFill>
                  <a:srgbClr val="00B050"/>
                </a:solidFill>
              </a:rPr>
            </a:br>
            <a:r>
              <a:rPr lang="en-US" dirty="0">
                <a:solidFill>
                  <a:srgbClr val="00B050"/>
                </a:solidFill>
              </a:rPr>
              <a:t>Churn,</a:t>
            </a:r>
            <a:br>
              <a:rPr lang="en-US" dirty="0">
                <a:solidFill>
                  <a:srgbClr val="00B050"/>
                </a:solidFill>
              </a:rPr>
            </a:br>
            <a:r>
              <a:rPr lang="en-US" dirty="0">
                <a:solidFill>
                  <a:srgbClr val="00B050"/>
                </a:solidFill>
              </a:rPr>
              <a:t>AVG(CAST(</a:t>
            </a:r>
            <a:r>
              <a:rPr lang="en-US" dirty="0" err="1">
                <a:solidFill>
                  <a:srgbClr val="00B050"/>
                </a:solidFill>
              </a:rPr>
              <a:t>MonthlyCharges</a:t>
            </a:r>
            <a:r>
              <a:rPr lang="en-US" dirty="0">
                <a:solidFill>
                  <a:srgbClr val="00B050"/>
                </a:solidFill>
              </a:rPr>
              <a:t> AS FLOAT)) AS </a:t>
            </a:r>
            <a:r>
              <a:rPr lang="en-US" dirty="0" err="1">
                <a:solidFill>
                  <a:srgbClr val="00B050"/>
                </a:solidFill>
              </a:rPr>
              <a:t>AvgMonthlyCharges</a:t>
            </a:r>
            <a:r>
              <a:rPr lang="en-US" dirty="0">
                <a:solidFill>
                  <a:srgbClr val="00B050"/>
                </a:solidFill>
              </a:rPr>
              <a:t/>
            </a:r>
            <a:br>
              <a:rPr lang="en-US" dirty="0">
                <a:solidFill>
                  <a:srgbClr val="00B050"/>
                </a:solidFill>
              </a:rPr>
            </a:br>
            <a:r>
              <a:rPr lang="en-US" dirty="0">
                <a:solidFill>
                  <a:srgbClr val="00B050"/>
                </a:solidFill>
              </a:rPr>
              <a:t>FROM Telco</a:t>
            </a:r>
            <a:br>
              <a:rPr lang="en-US" dirty="0">
                <a:solidFill>
                  <a:srgbClr val="00B050"/>
                </a:solidFill>
              </a:rPr>
            </a:br>
            <a:r>
              <a:rPr lang="en-US" dirty="0">
                <a:solidFill>
                  <a:srgbClr val="00B050"/>
                </a:solidFill>
              </a:rPr>
              <a:t>GROUP BY Churn;</a:t>
            </a:r>
            <a:endParaRPr lang="fr-FR" dirty="0">
              <a:solidFill>
                <a:srgbClr val="00B050"/>
              </a:solidFill>
            </a:endParaRPr>
          </a:p>
        </p:txBody>
      </p:sp>
      <p:sp>
        <p:nvSpPr>
          <p:cNvPr id="9" name="ZoneTexte 8"/>
          <p:cNvSpPr txBox="1"/>
          <p:nvPr/>
        </p:nvSpPr>
        <p:spPr>
          <a:xfrm>
            <a:off x="3046771" y="5643760"/>
            <a:ext cx="6098458" cy="923330"/>
          </a:xfrm>
          <a:prstGeom prst="rect">
            <a:avLst/>
          </a:prstGeom>
          <a:noFill/>
        </p:spPr>
        <p:txBody>
          <a:bodyPr wrap="square">
            <a:spAutoFit/>
          </a:bodyPr>
          <a:lstStyle/>
          <a:p>
            <a:r>
              <a:rPr lang="fr-FR" b="1" dirty="0"/>
              <a:t>Ce diagramme en barres montre que les clients ayant des charges élevées sont plus susceptibles de quitter le service. Cela signifie que le prix est un facteur important du </a:t>
            </a:r>
            <a:r>
              <a:rPr lang="fr-FR" b="1" dirty="0" err="1"/>
              <a:t>churn</a:t>
            </a:r>
            <a:r>
              <a:rPr lang="fr-FR" b="1" dirty="0"/>
              <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re 1"/>
          <p:cNvSpPr>
            <a:spLocks noGrp="1"/>
          </p:cNvSpPr>
          <p:nvPr>
            <p:ph type="title"/>
          </p:nvPr>
        </p:nvSpPr>
        <p:spPr>
          <a:xfrm>
            <a:off x="1024128" y="585216"/>
            <a:ext cx="3133581" cy="1499616"/>
          </a:xfrm>
        </p:spPr>
        <p:txBody>
          <a:bodyPr>
            <a:normAutofit/>
          </a:bodyPr>
          <a:lstStyle/>
          <a:p>
            <a:r>
              <a:rPr lang="fr-FR" sz="4000"/>
              <a:t>Diagramme : Type de Contrat</a:t>
            </a:r>
          </a:p>
        </p:txBody>
      </p:sp>
      <p:cxnSp>
        <p:nvCxnSpPr>
          <p:cNvPr id="10" name="Straight Connector 9"/>
          <p:cNvCxnSpPr>
            <a:cxnSpLocks noGrp="1" noRot="1" noChangeAspect="1" noMove="1" noResize="1" noEditPoints="1" noAdjustHandles="1" noChangeArrowheads="1" noChangeShapeType="1"/>
          </p:cNvCxnSpPr>
          <p:nvPr/>
        </p:nvCxnSpPr>
        <p:spPr>
          <a:xfrm flipV="1">
            <a:off x="762000" y="826324"/>
            <a:ext cx="0" cy="914400"/>
          </a:xfrm>
          <a:prstGeom prst="line">
            <a:avLst/>
          </a:prstGeom>
          <a:ln w="19050">
            <a:solidFill>
              <a:srgbClr val="FE8012"/>
            </a:solidFill>
          </a:ln>
        </p:spPr>
        <p:style>
          <a:lnRef idx="1">
            <a:schemeClr val="accent1"/>
          </a:lnRef>
          <a:fillRef idx="0">
            <a:schemeClr val="accent1"/>
          </a:fillRef>
          <a:effectRef idx="0">
            <a:schemeClr val="accent1"/>
          </a:effectRef>
          <a:fontRef idx="minor">
            <a:schemeClr val="tx1"/>
          </a:fontRef>
        </p:style>
      </p:cxnSp>
      <p:sp>
        <p:nvSpPr>
          <p:cNvPr id="3" name="Espace réservé du contenu 2"/>
          <p:cNvSpPr>
            <a:spLocks noGrp="1"/>
          </p:cNvSpPr>
          <p:nvPr>
            <p:ph idx="1"/>
          </p:nvPr>
        </p:nvSpPr>
        <p:spPr>
          <a:xfrm>
            <a:off x="1024128" y="2286000"/>
            <a:ext cx="3133580" cy="3931920"/>
          </a:xfrm>
        </p:spPr>
        <p:txBody>
          <a:bodyPr>
            <a:normAutofit/>
          </a:bodyPr>
          <a:lstStyle/>
          <a:p>
            <a:r>
              <a:rPr lang="fr-FR" sz="1600" dirty="0"/>
              <a:t>Ce que tu vois : plusieurs barres : </a:t>
            </a:r>
            <a:r>
              <a:rPr lang="fr-FR" sz="1600" dirty="0" err="1"/>
              <a:t>Monthly</a:t>
            </a:r>
            <a:r>
              <a:rPr lang="fr-FR" sz="1600" dirty="0"/>
              <a:t>  One </a:t>
            </a:r>
            <a:r>
              <a:rPr lang="fr-FR" sz="1600" dirty="0" err="1"/>
              <a:t>year</a:t>
            </a:r>
            <a:r>
              <a:rPr lang="fr-FR" sz="1600" dirty="0"/>
              <a:t>  </a:t>
            </a:r>
            <a:r>
              <a:rPr lang="fr-FR" sz="1600" dirty="0" err="1"/>
              <a:t>Two</a:t>
            </a:r>
            <a:r>
              <a:rPr lang="fr-FR" sz="1600" dirty="0"/>
              <a:t> </a:t>
            </a:r>
            <a:r>
              <a:rPr lang="fr-FR" sz="1600" dirty="0" err="1"/>
              <a:t>year</a:t>
            </a:r>
            <a:r>
              <a:rPr lang="fr-FR" sz="1600" dirty="0"/>
              <a:t>  Comment expliquer : “Les clients avec contrat mensuel quittent beaucoup plus que ceux avec contrat à long terme.”  </a:t>
            </a:r>
          </a:p>
          <a:p>
            <a:r>
              <a:rPr lang="fr-FR" sz="1600" dirty="0"/>
              <a:t>Interprétation </a:t>
            </a:r>
            <a:r>
              <a:rPr lang="fr-FR" sz="1600"/>
              <a:t>: </a:t>
            </a:r>
            <a:endParaRPr lang="fr-FR" sz="1600" smtClean="0"/>
          </a:p>
          <a:p>
            <a:r>
              <a:rPr lang="fr-FR" sz="1600" smtClean="0"/>
              <a:t>contrat </a:t>
            </a:r>
            <a:r>
              <a:rPr lang="fr-FR" sz="1600" dirty="0"/>
              <a:t>court=instabilité</a:t>
            </a:r>
          </a:p>
          <a:p>
            <a:r>
              <a:rPr lang="fr-FR" sz="1600" smtClean="0"/>
              <a:t>contrat </a:t>
            </a:r>
            <a:r>
              <a:rPr lang="fr-FR" sz="1600" dirty="0"/>
              <a:t>long = fidélité </a:t>
            </a:r>
          </a:p>
        </p:txBody>
      </p:sp>
      <p:pic>
        <p:nvPicPr>
          <p:cNvPr id="5" name="Imag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82423" y="2084832"/>
            <a:ext cx="6909577" cy="3194708"/>
          </a:xfrm>
          <a:prstGeom prst="rect">
            <a:avLst/>
          </a:prstGeom>
        </p:spPr>
      </p:pic>
      <p:sp>
        <p:nvSpPr>
          <p:cNvPr id="7" name="ZoneTexte 6"/>
          <p:cNvSpPr txBox="1"/>
          <p:nvPr/>
        </p:nvSpPr>
        <p:spPr>
          <a:xfrm>
            <a:off x="5794811" y="319361"/>
            <a:ext cx="6093500" cy="2031325"/>
          </a:xfrm>
          <a:prstGeom prst="rect">
            <a:avLst/>
          </a:prstGeom>
          <a:noFill/>
        </p:spPr>
        <p:txBody>
          <a:bodyPr wrap="square">
            <a:spAutoFit/>
          </a:bodyPr>
          <a:lstStyle/>
          <a:p>
            <a:r>
              <a:rPr lang="en-US" dirty="0">
                <a:solidFill>
                  <a:srgbClr val="00B050"/>
                </a:solidFill>
              </a:rPr>
              <a:t>SELECT </a:t>
            </a:r>
            <a:br>
              <a:rPr lang="en-US" dirty="0">
                <a:solidFill>
                  <a:srgbClr val="00B050"/>
                </a:solidFill>
              </a:rPr>
            </a:br>
            <a:r>
              <a:rPr lang="en-US" dirty="0">
                <a:solidFill>
                  <a:srgbClr val="00B050"/>
                </a:solidFill>
              </a:rPr>
              <a:t>Contract,</a:t>
            </a:r>
            <a:br>
              <a:rPr lang="en-US" dirty="0">
                <a:solidFill>
                  <a:srgbClr val="00B050"/>
                </a:solidFill>
              </a:rPr>
            </a:br>
            <a:r>
              <a:rPr lang="en-US" dirty="0">
                <a:solidFill>
                  <a:srgbClr val="00B050"/>
                </a:solidFill>
              </a:rPr>
              <a:t>Churn,</a:t>
            </a:r>
            <a:br>
              <a:rPr lang="en-US" dirty="0">
                <a:solidFill>
                  <a:srgbClr val="00B050"/>
                </a:solidFill>
              </a:rPr>
            </a:br>
            <a:r>
              <a:rPr lang="en-US" dirty="0">
                <a:solidFill>
                  <a:srgbClr val="00B050"/>
                </a:solidFill>
              </a:rPr>
              <a:t>COUNT(*) AS Total</a:t>
            </a:r>
            <a:br>
              <a:rPr lang="en-US" dirty="0">
                <a:solidFill>
                  <a:srgbClr val="00B050"/>
                </a:solidFill>
              </a:rPr>
            </a:br>
            <a:r>
              <a:rPr lang="en-US" dirty="0">
                <a:solidFill>
                  <a:srgbClr val="00B050"/>
                </a:solidFill>
              </a:rPr>
              <a:t>FROM Telco</a:t>
            </a:r>
            <a:br>
              <a:rPr lang="en-US" dirty="0">
                <a:solidFill>
                  <a:srgbClr val="00B050"/>
                </a:solidFill>
              </a:rPr>
            </a:br>
            <a:r>
              <a:rPr lang="en-US" dirty="0">
                <a:solidFill>
                  <a:srgbClr val="00B050"/>
                </a:solidFill>
              </a:rPr>
              <a:t>GROUP BY Contract, Churn</a:t>
            </a:r>
            <a:br>
              <a:rPr lang="en-US" dirty="0">
                <a:solidFill>
                  <a:srgbClr val="00B050"/>
                </a:solidFill>
              </a:rPr>
            </a:br>
            <a:r>
              <a:rPr lang="en-US" dirty="0"/>
              <a:t>ORDER BY Contract;</a:t>
            </a:r>
            <a:endParaRPr lang="fr-FR" dirty="0"/>
          </a:p>
        </p:txBody>
      </p:sp>
      <p:sp>
        <p:nvSpPr>
          <p:cNvPr id="9" name="ZoneTexte 8"/>
          <p:cNvSpPr txBox="1"/>
          <p:nvPr/>
        </p:nvSpPr>
        <p:spPr>
          <a:xfrm>
            <a:off x="3569110" y="5495758"/>
            <a:ext cx="6687056" cy="923330"/>
          </a:xfrm>
          <a:prstGeom prst="rect">
            <a:avLst/>
          </a:prstGeom>
          <a:noFill/>
        </p:spPr>
        <p:txBody>
          <a:bodyPr wrap="square">
            <a:spAutoFit/>
          </a:bodyPr>
          <a:lstStyle/>
          <a:p>
            <a:r>
              <a:rPr lang="fr-FR" b="1" dirty="0"/>
              <a:t>Ce graphique montre que les clients avec des contrats mensuels quittent plus souvent que ceux avec des contrats à long terme. Cela indique que la durée du contrat influence la fidélité.</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re 1"/>
          <p:cNvSpPr>
            <a:spLocks noGrp="1"/>
          </p:cNvSpPr>
          <p:nvPr>
            <p:ph type="title"/>
          </p:nvPr>
        </p:nvSpPr>
        <p:spPr>
          <a:xfrm>
            <a:off x="1024128" y="585216"/>
            <a:ext cx="6066818" cy="1499616"/>
          </a:xfrm>
        </p:spPr>
        <p:txBody>
          <a:bodyPr>
            <a:normAutofit/>
          </a:bodyPr>
          <a:lstStyle/>
          <a:p>
            <a:r>
              <a:rPr lang="fr-FR" dirty="0"/>
              <a:t>Interprétation</a:t>
            </a:r>
          </a:p>
        </p:txBody>
      </p:sp>
      <p:cxnSp>
        <p:nvCxnSpPr>
          <p:cNvPr id="9" name="Straight Connector 8"/>
          <p:cNvCxnSpPr>
            <a:cxnSpLocks noGrp="1" noRot="1" noChangeAspect="1" noMove="1" noResize="1" noEditPoints="1" noAdjustHandles="1" noChangeArrowheads="1" noChangeShapeType="1"/>
          </p:cNvCxnSpPr>
          <p:nvPr/>
        </p:nvCxnSpPr>
        <p:spPr>
          <a:xfrm flipV="1">
            <a:off x="762000" y="826324"/>
            <a:ext cx="0" cy="914400"/>
          </a:xfrm>
          <a:prstGeom prst="line">
            <a:avLst/>
          </a:prstGeom>
          <a:ln w="19050">
            <a:solidFill>
              <a:srgbClr val="11C7E1"/>
            </a:solidFill>
          </a:ln>
        </p:spPr>
        <p:style>
          <a:lnRef idx="1">
            <a:schemeClr val="accent1"/>
          </a:lnRef>
          <a:fillRef idx="0">
            <a:schemeClr val="accent1"/>
          </a:fillRef>
          <a:effectRef idx="0">
            <a:schemeClr val="accent1"/>
          </a:effectRef>
          <a:fontRef idx="minor">
            <a:schemeClr val="tx1"/>
          </a:fontRef>
        </p:style>
      </p:cxnSp>
      <p:sp>
        <p:nvSpPr>
          <p:cNvPr id="3" name="Espace réservé du contenu 2"/>
          <p:cNvSpPr>
            <a:spLocks noGrp="1"/>
          </p:cNvSpPr>
          <p:nvPr>
            <p:ph idx="1"/>
          </p:nvPr>
        </p:nvSpPr>
        <p:spPr>
          <a:xfrm>
            <a:off x="1024128" y="2286000"/>
            <a:ext cx="6066818" cy="4023360"/>
          </a:xfrm>
        </p:spPr>
        <p:txBody>
          <a:bodyPr>
            <a:normAutofit/>
          </a:bodyPr>
          <a:lstStyle/>
          <a:p>
            <a:r>
              <a:rPr lang="fr-FR" dirty="0"/>
              <a:t>Les résultats montrent que les nouveaux clients quittent plus rapidement. Les prix élevés et les contrats courts augmentent le </a:t>
            </a:r>
            <a:r>
              <a:rPr lang="fr-FR" dirty="0" err="1"/>
              <a:t>churn</a:t>
            </a:r>
            <a:r>
              <a:rPr lang="fr-FR" dirty="0"/>
              <a:t>. Ces éléments sont les principaux facteurs à surveiller.</a:t>
            </a:r>
          </a:p>
        </p:txBody>
      </p:sp>
      <p:pic>
        <p:nvPicPr>
          <p:cNvPr id="5" name="Picture 4"/>
          <p:cNvPicPr>
            <a:picLocks noChangeAspect="1"/>
          </p:cNvPicPr>
          <p:nvPr/>
        </p:nvPicPr>
        <p:blipFill>
          <a:blip r:embed="rId2"/>
          <a:srcRect r="61775" b="-445"/>
          <a:stretch>
            <a:fillRect/>
          </a:stretch>
        </p:blipFill>
        <p:spPr>
          <a:xfrm>
            <a:off x="7552266" y="10"/>
            <a:ext cx="4639733" cy="685799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conclusion :</a:t>
            </a:r>
            <a:br>
              <a:rPr lang="fr-FR"/>
            </a:br>
            <a:endParaRPr lang="fr-FR"/>
          </a:p>
        </p:txBody>
      </p:sp>
      <p:sp>
        <p:nvSpPr>
          <p:cNvPr id="3" name="Espace réservé du contenu 2"/>
          <p:cNvSpPr>
            <a:spLocks noGrp="1"/>
          </p:cNvSpPr>
          <p:nvPr>
            <p:ph idx="1"/>
          </p:nvPr>
        </p:nvSpPr>
        <p:spPr/>
        <p:txBody>
          <a:bodyPr>
            <a:normAutofit/>
          </a:bodyPr>
          <a:lstStyle/>
          <a:p>
            <a:r>
              <a:rPr lang="fr-FR" sz="2400" b="1" dirty="0">
                <a:solidFill>
                  <a:srgbClr val="00B050"/>
                </a:solidFill>
              </a:rPr>
              <a:t>Le </a:t>
            </a:r>
            <a:r>
              <a:rPr lang="fr-FR" sz="2400" b="1" dirty="0" err="1">
                <a:solidFill>
                  <a:srgbClr val="00B050"/>
                </a:solidFill>
              </a:rPr>
              <a:t>churn</a:t>
            </a:r>
            <a:r>
              <a:rPr lang="fr-FR" sz="2400" b="1" dirty="0">
                <a:solidFill>
                  <a:srgbClr val="00B050"/>
                </a:solidFill>
              </a:rPr>
              <a:t> est un problème critique pour l’entreprise. Les facteurs principaux sont le prix, le type de contrat et l’ancienneté. Pour réduire le </a:t>
            </a:r>
            <a:r>
              <a:rPr lang="fr-FR" sz="2400" b="1" dirty="0" err="1">
                <a:solidFill>
                  <a:srgbClr val="00B050"/>
                </a:solidFill>
              </a:rPr>
              <a:t>churn</a:t>
            </a:r>
            <a:r>
              <a:rPr lang="fr-FR" sz="2400" b="1" dirty="0">
                <a:solidFill>
                  <a:srgbClr val="00B050"/>
                </a:solidFill>
              </a:rPr>
              <a:t>, l’entreprise doit améliorer la satisfaction client, proposer des offres promotionnelles et encourager les contrats long terme</a:t>
            </a:r>
          </a:p>
        </p:txBody>
      </p:sp>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égral">
  <a:themeElements>
    <a:clrScheme name="Nuances de gris">
      <a:dk1>
        <a:sysClr val="windowText" lastClr="000000"/>
      </a:dk1>
      <a:lt1>
        <a:sysClr val="window" lastClr="FFFFFF"/>
      </a:lt1>
      <a:dk2>
        <a:srgbClr val="000000"/>
      </a:dk2>
      <a:lt2>
        <a:srgbClr val="F8F8F8"/>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Intégral">
      <a:majorFont>
        <a:latin typeface="Tw Cen MT Condensed"/>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é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Integral</Template>
  <TotalTime>36</TotalTime>
  <Words>683</Words>
  <Application>Microsoft Office PowerPoint</Application>
  <PresentationFormat>Grand écran</PresentationFormat>
  <Paragraphs>58</Paragraphs>
  <Slides>14</Slides>
  <Notes>0</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14</vt:i4>
      </vt:variant>
    </vt:vector>
  </HeadingPairs>
  <TitlesOfParts>
    <vt:vector size="19" baseType="lpstr">
      <vt:lpstr>Arial</vt:lpstr>
      <vt:lpstr>Tw Cen MT</vt:lpstr>
      <vt:lpstr>Tw Cen MT Condensed</vt:lpstr>
      <vt:lpstr>Wingdings 3</vt:lpstr>
      <vt:lpstr>Intégral</vt:lpstr>
      <vt:lpstr>Projet Data Analytics – Telco Customer Churn  </vt:lpstr>
      <vt:lpstr>Introduction </vt:lpstr>
      <vt:lpstr>Objectif du Projet</vt:lpstr>
      <vt:lpstr>Description du Dataset</vt:lpstr>
      <vt:lpstr> </vt:lpstr>
      <vt:lpstr>Outils Utilisés</vt:lpstr>
      <vt:lpstr>3 GUITHUB :</vt:lpstr>
      <vt:lpstr>Base de Données</vt:lpstr>
      <vt:lpstr>Analyse SQL</vt:lpstr>
      <vt:lpstr>Diagramme : Répartition du Churn  </vt:lpstr>
      <vt:lpstr>Diagramme : Charges vs Churn</vt:lpstr>
      <vt:lpstr>Diagramme : Type de Contrat</vt:lpstr>
      <vt:lpstr>Interprétation</vt:lpstr>
      <vt:lpstr>conclusion :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Projet Data Analytics – Telco Customer Churn  </dc:title>
  <dc:creator>user</dc:creator>
  <cp:lastModifiedBy>ESGITECH</cp:lastModifiedBy>
  <cp:revision>8</cp:revision>
  <dcterms:created xsi:type="dcterms:W3CDTF">2026-04-14T01:20:00Z</dcterms:created>
  <dcterms:modified xsi:type="dcterms:W3CDTF">2026-04-14T10:48:18Z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623BC5792E95400BA2ACED5D14F74330_12</vt:lpwstr>
  </property>
  <property fmtid="{D5CDD505-2E9C-101B-9397-08002B2CF9AE}" pid="3" name="KSOProductBuildVer">
    <vt:lpwstr>1036-12.2.0.23196</vt:lpwstr>
  </property>
</Properties>
</file>